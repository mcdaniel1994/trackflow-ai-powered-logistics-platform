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55172d9d7494b7e" /><Relationship Type="http://schemas.openxmlformats.org/officeDocument/2006/relationships/extended-properties" Target="/docProps/app.xml" Id="R901d55ad255d4d6c" /><Relationship Type="http://schemas.openxmlformats.org/officeDocument/2006/relationships/officeDocument" Target="/ppt/presentation.xml" Id="Ra069765229f34b4d" /></Relationships>
</file>

<file path=ppt/presentation.xml><?xml version="1.0" encoding="utf-8"?>
<p:presentation xmlns:p="http://schemas.openxmlformats.org/presentationml/2006/main">
  <p:sldMasterIdLst>
    <p:sldMasterId xmlns:r="http://schemas.openxmlformats.org/officeDocument/2006/relationships" id="2147483648" r:id="R2975cd4d00894ffc"/>
  </p:sldMasterIdLst>
  <p:notesMasterIdLst>
    <p:notesMasterId xmlns:r="http://schemas.openxmlformats.org/officeDocument/2006/relationships" r:id="Re54d7345130b4db8"/>
  </p:notesMasterIdLst>
  <p:sldIdLst>
    <p:sldId xmlns:r="http://schemas.openxmlformats.org/officeDocument/2006/relationships" id="256" r:id="R47153aee2ea74450"/>
    <p:sldId xmlns:r="http://schemas.openxmlformats.org/officeDocument/2006/relationships" id="257" r:id="R43e30ece9e994da3"/>
    <p:sldId xmlns:r="http://schemas.openxmlformats.org/officeDocument/2006/relationships" id="258" r:id="R91739706c8a84c41"/>
    <p:sldId xmlns:r="http://schemas.openxmlformats.org/officeDocument/2006/relationships" id="259" r:id="R0c39023621b34237"/>
    <p:sldId xmlns:r="http://schemas.openxmlformats.org/officeDocument/2006/relationships" id="260" r:id="R8a87dbb11bd744c5"/>
    <p:sldId xmlns:r="http://schemas.openxmlformats.org/officeDocument/2006/relationships" id="261" r:id="Rb4711cb5a4584f4b"/>
    <p:sldId xmlns:r="http://schemas.openxmlformats.org/officeDocument/2006/relationships" id="262" r:id="Ra76aa8c3159c419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67117edbe334155" /><Relationship Type="http://schemas.openxmlformats.org/officeDocument/2006/relationships/slideMaster" Target="/ppt/slideMasters/slideMaster1.xml" Id="R2975cd4d00894ffc" /><Relationship Type="http://schemas.openxmlformats.org/officeDocument/2006/relationships/notesMaster" Target="/ppt/notesMasters/notesMaster1.xml" Id="Re54d7345130b4db8" /><Relationship Type="http://schemas.openxmlformats.org/officeDocument/2006/relationships/presProps" Target="/ppt/presProps.xml" Id="R9da823c10e84419c" /><Relationship Type="http://schemas.openxmlformats.org/officeDocument/2006/relationships/tableStyles" Target="/ppt/tableStyles.xml" Id="R6622980194b84981" /><Relationship Type="http://schemas.openxmlformats.org/officeDocument/2006/relationships/slide" Target="/ppt/slides/slide1.xml" Id="R47153aee2ea74450" /><Relationship Type="http://schemas.openxmlformats.org/officeDocument/2006/relationships/slide" Target="/ppt/slides/slide2.xml" Id="R43e30ece9e994da3" /><Relationship Type="http://schemas.openxmlformats.org/officeDocument/2006/relationships/slide" Target="/ppt/slides/slide3.xml" Id="R91739706c8a84c41" /><Relationship Type="http://schemas.openxmlformats.org/officeDocument/2006/relationships/slide" Target="/ppt/slides/slide4.xml" Id="R0c39023621b34237" /><Relationship Type="http://schemas.openxmlformats.org/officeDocument/2006/relationships/slide" Target="/ppt/slides/slide5.xml" Id="R8a87dbb11bd744c5" /><Relationship Type="http://schemas.openxmlformats.org/officeDocument/2006/relationships/slide" Target="/ppt/slides/slide6.xml" Id="Rb4711cb5a4584f4b" /><Relationship Type="http://schemas.openxmlformats.org/officeDocument/2006/relationships/slide" Target="/ppt/slides/slide7.xml" Id="Ra76aa8c3159c419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c7282a593724df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416c22a02b547f4" /><Relationship Type="http://schemas.openxmlformats.org/officeDocument/2006/relationships/notesMaster" Target="/ppt/notesMasters/notesMaster1.xml" Id="R5df206787a7b4c39" /></Relationships>
</file>

<file path=ppt/notesSlides/_rels/notesSlide2.xml.rels>&#65279;<?xml version="1.0" encoding="utf-8"?><Relationships xmlns="http://schemas.openxmlformats.org/package/2006/relationships"><Relationship Type="http://schemas.openxmlformats.org/officeDocument/2006/relationships/slide" Target="/ppt/slides/slide2.xml" Id="Rf8a0f69072114f38" /><Relationship Type="http://schemas.openxmlformats.org/officeDocument/2006/relationships/notesMaster" Target="/ppt/notesMasters/notesMaster1.xml" Id="Ra446fe72022a409d" /></Relationships>
</file>

<file path=ppt/notesSlides/_rels/notesSlide3.xml.rels>&#65279;<?xml version="1.0" encoding="utf-8"?><Relationships xmlns="http://schemas.openxmlformats.org/package/2006/relationships"><Relationship Type="http://schemas.openxmlformats.org/officeDocument/2006/relationships/slide" Target="/ppt/slides/slide3.xml" Id="R1501c7824d4c40e5" /><Relationship Type="http://schemas.openxmlformats.org/officeDocument/2006/relationships/notesMaster" Target="/ppt/notesMasters/notesMaster1.xml" Id="R7f861e1b13e94f9f" /></Relationships>
</file>

<file path=ppt/notesSlides/_rels/notesSlide4.xml.rels>&#65279;<?xml version="1.0" encoding="utf-8"?><Relationships xmlns="http://schemas.openxmlformats.org/package/2006/relationships"><Relationship Type="http://schemas.openxmlformats.org/officeDocument/2006/relationships/slide" Target="/ppt/slides/slide4.xml" Id="R6d0a6eedf5ec41aa" /><Relationship Type="http://schemas.openxmlformats.org/officeDocument/2006/relationships/notesMaster" Target="/ppt/notesMasters/notesMaster1.xml" Id="R56dcba868b60408a" /></Relationships>
</file>

<file path=ppt/notesSlides/_rels/notesSlide5.xml.rels>&#65279;<?xml version="1.0" encoding="utf-8"?><Relationships xmlns="http://schemas.openxmlformats.org/package/2006/relationships"><Relationship Type="http://schemas.openxmlformats.org/officeDocument/2006/relationships/slide" Target="/ppt/slides/slide5.xml" Id="R781302bf7f614ef7" /><Relationship Type="http://schemas.openxmlformats.org/officeDocument/2006/relationships/notesMaster" Target="/ppt/notesMasters/notesMaster1.xml" Id="Re433b3cb20ac4c21" /></Relationships>
</file>

<file path=ppt/notesSlides/_rels/notesSlide6.xml.rels>&#65279;<?xml version="1.0" encoding="utf-8"?><Relationships xmlns="http://schemas.openxmlformats.org/package/2006/relationships"><Relationship Type="http://schemas.openxmlformats.org/officeDocument/2006/relationships/slide" Target="/ppt/slides/slide6.xml" Id="R0585c690b52f48bb" /><Relationship Type="http://schemas.openxmlformats.org/officeDocument/2006/relationships/notesMaster" Target="/ppt/notesMasters/notesMaster1.xml" Id="Rc98eea747296488d" /></Relationships>
</file>

<file path=ppt/notesSlides/_rels/notesSlide7.xml.rels>&#65279;<?xml version="1.0" encoding="utf-8"?><Relationships xmlns="http://schemas.openxmlformats.org/package/2006/relationships"><Relationship Type="http://schemas.openxmlformats.org/officeDocument/2006/relationships/slide" Target="/ppt/slides/slide7.xml" Id="R6a75d747ebcd41e9" /><Relationship Type="http://schemas.openxmlformats.org/officeDocument/2006/relationships/notesMaster" Target="/ppt/notesMasters/notesMaster1.xml" Id="R1a6b1ab70566410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0:00–0:30 — Logistics operators usually have to choose between moving fast and staying in control. I built TrackFlow so they do not have to. I’m Cory McDaniel, and TrackFlow is an AI-powered operating system that connects warehouse activity, customer support, and commercial workflows in one production platform.</a:t>
            </a:r>
          </a:p>
          <a:p xmlns:a="http://schemas.openxmlformats.org/drawingml/2006/main">
            <a:r>
              <a:t/>
            </a:r>
          </a:p>
          <a:p xmlns:a="http://schemas.openxmlformats.org/drawingml/2006/main">
            <a:r>
              <a:t>[Sources]</a:t>
            </a:r>
          </a:p>
          <a:p xmlns:a="http://schemas.openxmlformats.org/drawingml/2006/main">
            <a:r>
              <a:t>- TrackFlow project brief — memory-bank/projectbrief.md</a:t>
            </a:r>
          </a:p>
          <a:p xmlns:a="http://schemas.openxmlformats.org/drawingml/2006/main">
            <a:r>
              <a:t>- TrackFlow website hero asset — uis/website/public/images/trackflow-operations-hero.png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0:30–1:15 — TrackFlow is a logistics operator with warehouses in Los Angeles and Zaragoza. The operational problem was not a lack of effort; it was fragmentation. Inventory visibility stopped at each warehouse, support teams repeatedly answered policy questions, and commercial RFPs moved between departments by hand. Solving one screen would not solve that system. The opportunity was to build a shared operating layer where live data and AI could work together.</a:t>
            </a:r>
          </a:p>
          <a:p xmlns:a="http://schemas.openxmlformats.org/drawingml/2006/main">
            <a:r>
              <a:t/>
            </a:r>
          </a:p>
          <a:p xmlns:a="http://schemas.openxmlformats.org/drawingml/2006/main">
            <a:r>
              <a:t>[Sources]</a:t>
            </a:r>
          </a:p>
          <a:p xmlns:a="http://schemas.openxmlformats.org/drawingml/2006/main">
            <a:r>
              <a:t>- Operational problems and stakeholder needs — memory-bank/projectbrief.md</a:t>
            </a:r>
          </a:p>
          <a:p xmlns:a="http://schemas.openxmlformats.org/drawingml/2006/main">
            <a:r>
              <a:t>- Delivered platform summary — 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1:15–1:45 — The result is one authenticated workspace. On the overview, warehouse metrics refresh from the inventory system of record, while the same interface exposes business workflows, technical telemetry, and the AI assistant. This is the foundation: the AI is not floating beside the business. It operates inside the same context as the people using it.</a:t>
            </a:r>
          </a:p>
          <a:p xmlns:a="http://schemas.openxmlformats.org/drawingml/2006/main">
            <a:r>
              <a:t/>
            </a:r>
          </a:p>
          <a:p xmlns:a="http://schemas.openxmlformats.org/drawingml/2006/main">
            <a:r>
              <a:t>[Sources]</a:t>
            </a:r>
          </a:p>
          <a:p xmlns:a="http://schemas.openxmlformats.org/drawingml/2006/main">
            <a:r>
              <a:t>- Production Backoffice overview captured 2026-08-21 — https://backoffice.forgehub.cloud/</a:t>
            </a:r>
          </a:p>
          <a:p xmlns:a="http://schemas.openxmlformats.org/drawingml/2006/main">
            <a:r>
              <a:t>- Current architecture — memory-bank/techContext.md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1:45–2:35 — In the first demo, I ask the CX agent normal operational questions. It can answer a return-policy question from the knowledge base, route a ticket-status question to a live MCP tool, and reject a carrier question when it cannot return the answer safely. The important behavior is not just that it answers. It chooses the right source, respects the user’s scope and jurisdiction, and refuses instead of inventing.</a:t>
            </a:r>
          </a:p>
          <a:p xmlns:a="http://schemas.openxmlformats.org/drawingml/2006/main">
            <a:r>
              <a:t/>
            </a:r>
          </a:p>
          <a:p xmlns:a="http://schemas.openxmlformats.org/drawingml/2006/main">
            <a:r>
              <a:t>[Sources]</a:t>
            </a:r>
          </a:p>
          <a:p xmlns:a="http://schemas.openxmlformats.org/drawingml/2006/main">
            <a:r>
              <a:t>- Production CX agent conversation captured 2026-08-21 — https://backoffice.forgehub.cloud/</a:t>
            </a:r>
          </a:p>
          <a:p xmlns:a="http://schemas.openxmlformats.org/drawingml/2006/main">
            <a:r>
              <a:t>- Agent Engineering delivery summary — README.md, Engagement 8</a:t>
            </a:r>
          </a:p>
          <a:p xmlns:a="http://schemas.openxmlformats.org/drawingml/2006/main">
            <a:r>
              <a:t>- RAG Knowledge Base delivery summary — README.md, Engagement 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2:35–3:30 — The second demo is the RFP Desk. A user uploads a PDF. The workflow extracts and validates it, routes work to the relevant departments, generates policy-grounded drafts, and evaluates them against rules such as currency, SLA, returns, discounts, and prohibited carrier rates. Each department then pauses independently for a human decision. Only after every branch is approved does the workflow assemble the final downloadable proposal. That keeps automation fast without removing accountability.</a:t>
            </a:r>
          </a:p>
          <a:p xmlns:a="http://schemas.openxmlformats.org/drawingml/2006/main">
            <a:r>
              <a:t/>
            </a:r>
          </a:p>
          <a:p xmlns:a="http://schemas.openxmlformats.org/drawingml/2006/main">
            <a:r>
              <a:t>[Sources]</a:t>
            </a:r>
          </a:p>
          <a:p xmlns:a="http://schemas.openxmlformats.org/drawingml/2006/main">
            <a:r>
              <a:t>- Production RFP Desk captured 2026-08-21 — https://backoffice.forgehub.cloud/agent-os/rfp</a:t>
            </a:r>
          </a:p>
          <a:p xmlns:a="http://schemas.openxmlformats.org/drawingml/2006/main">
            <a:r>
              <a:t>- Automated RFP Desk delivery summary — README.md, Engagement 9</a:t>
            </a:r>
          </a:p>
          <a:p xmlns:a="http://schemas.openxmlformats.org/drawingml/2006/main">
            <a:r>
              <a:t>- Active implementation record — memory-bank/progress.md, Engagement 9</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3:30–4:15 — The hardest engineering problem was trust. A useful answer is not enough if you cannot explain where it came from or stop it when the context is wrong. I chose explicit LangGraph workflows over an opaque agent loop, MCP boundaries over direct service access, deterministic evaluators and iteration caps over unlimited retries, and durable human interrupts for high-impact approval. Agent OS makes those decisions visible: the exact graph path, tools, latency, tokens, cost, and guardrail outcomes are all inspectable. That is the part I am most proud of.</a:t>
            </a:r>
          </a:p>
          <a:p xmlns:a="http://schemas.openxmlformats.org/drawingml/2006/main">
            <a:r>
              <a:t/>
            </a:r>
          </a:p>
          <a:p xmlns:a="http://schemas.openxmlformats.org/drawingml/2006/main">
            <a:r>
              <a:t>[Sources]</a:t>
            </a:r>
          </a:p>
          <a:p xmlns:a="http://schemas.openxmlformats.org/drawingml/2006/main">
            <a:r>
              <a:t>- Production Agent OS captured 2026-08-21 — https://backoffice.forgehub.cloud/agent-os</a:t>
            </a:r>
          </a:p>
          <a:p xmlns:a="http://schemas.openxmlformats.org/drawingml/2006/main">
            <a:r>
              <a:t>- Agent Engineering delivery summary — README.md, Engagement 8</a:t>
            </a:r>
          </a:p>
          <a:p xmlns:a="http://schemas.openxmlformats.org/drawingml/2006/main">
            <a:r>
              <a:t>- Automated RFP Desk delivery summary — README.md, Engagement 9</a:t>
            </a:r>
          </a:p>
          <a:p xmlns:a="http://schemas.openxmlformats.org/drawingml/2006/main">
            <a:r>
              <a:t>- Current architecture and security boundaries — memory-bank/techContext.md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4:15–5:00 — Stop screen sharing or place this slide behind you, look directly into the lens, and answer the three required 4Geeks questions. Pause for two full seconds before and after each answer. Use the complete-sentence answer stems in docs/demo/TrackFlow-Demo-Script.md; replace every bracketed personal detail before recording.</a:t>
            </a:r>
          </a:p>
          <a:p xmlns:a="http://schemas.openxmlformats.org/drawingml/2006/main">
            <a:r>
              <a:t/>
            </a:r>
          </a:p>
          <a:p xmlns:a="http://schemas.openxmlformats.org/drawingml/2006/main">
            <a:r>
              <a:t>[Sources]</a:t>
            </a:r>
          </a:p>
          <a:p xmlns:a="http://schemas.openxmlformats.org/drawingml/2006/main">
            <a:r>
              <a:t>- Final project video requirements — docs/planning/demo_presentation.md</a:t>
            </a:r>
          </a:p>
          <a:p xmlns:a="http://schemas.openxmlformats.org/drawingml/2006/main">
            <a:r>
              <a:t>- TrackFlow completion summary — 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830d9bf578247e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9957e4f8462412d" /><Relationship Type="http://schemas.openxmlformats.org/officeDocument/2006/relationships/slideLayout" Target="/ppt/slideLayouts/slideLayout1.xml" Id="R3920ed3b2dc2402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920ed3b2dc2402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61b57f9e3984e26" /><Relationship Type="http://schemas.openxmlformats.org/officeDocument/2006/relationships/image" Target="/ppt/media/image.png" Id="R497b7d9723dc453c" /><Relationship Type="http://schemas.openxmlformats.org/officeDocument/2006/relationships/notesSlide" Target="/ppt/notesSlides/notesSlide1.xml" Id="R3a8053367782450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65412730ad84a67" /><Relationship Type="http://schemas.openxmlformats.org/officeDocument/2006/relationships/notesSlide" Target="/ppt/notesSlides/notesSlide2.xml" Id="Rf376951b2e8d45e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d8e3f15cd8f4cb8" /><Relationship Type="http://schemas.openxmlformats.org/officeDocument/2006/relationships/image" Target="/ppt/media/image.jpeg" Id="R7daa45e853af4322" /><Relationship Type="http://schemas.openxmlformats.org/officeDocument/2006/relationships/notesSlide" Target="/ppt/notesSlides/notesSlide3.xml" Id="R67c39824b26c481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8b6081a83a341ed" /><Relationship Type="http://schemas.openxmlformats.org/officeDocument/2006/relationships/image" Target="/ppt/media/image2.jpeg" Id="R693ea4c47c0e4194" /><Relationship Type="http://schemas.openxmlformats.org/officeDocument/2006/relationships/notesSlide" Target="/ppt/notesSlides/notesSlide4.xml" Id="R7b8af51bc2d9447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54a44da942048e3" /><Relationship Type="http://schemas.openxmlformats.org/officeDocument/2006/relationships/image" Target="/ppt/media/image3.jpeg" Id="R69da05e0d0ba491c" /><Relationship Type="http://schemas.openxmlformats.org/officeDocument/2006/relationships/notesSlide" Target="/ppt/notesSlides/notesSlide5.xml" Id="R58ff46f9bba34e1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de20f46548546b5" /><Relationship Type="http://schemas.openxmlformats.org/officeDocument/2006/relationships/image" Target="/ppt/media/image4.jpeg" Id="R43bf578c43984632" /><Relationship Type="http://schemas.openxmlformats.org/officeDocument/2006/relationships/notesSlide" Target="/ppt/notesSlides/notesSlide6.xml" Id="Rd2e73fc9610d4e0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cb660ac44044fc3" /><Relationship Type="http://schemas.openxmlformats.org/officeDocument/2006/relationships/notesSlide" Target="/ppt/notesSlides/notesSlide7.xml" Id="R8bf25ef002ab43f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97b7d9723dc453c"/>
          <a:srcRect xmlns:a="http://schemas.openxmlformats.org/drawingml/2006/main" l="28068" t="0" r="28068" b="0"/>
          <a:stretch xmlns:a="http://schemas.openxmlformats.org/drawingml/2006/main">
            <a:fillRect l="0" t="0" r="0" b="0"/>
          </a:stretch>
        </p:blipFill>
        <p:spPr>
          <a:xfrm xmlns:a="http://schemas.openxmlformats.org/drawingml/2006/main">
            <a:off x="6553200" y="0"/>
            <a:ext cx="5638800" cy="6858000"/>
          </a:xfrm>
          <a:prstGeom xmlns:a="http://schemas.openxmlformats.org/drawingml/2006/main" prst="rect">
            <a:avLst/>
          </a:prstGeom>
        </p:spPr>
      </p:pic>
      <p:sp>
        <p:nvSpPr>
          <p:cNvPr id="2" name="cover-accent">
            <a:extLst xmlns:a="http://schemas.openxmlformats.org/drawingml/2006/main">
              <a:ext uri="{FF2B5EF4-FFF2-40B4-BE49-F238E27FC236}">
                <a16:creationId xmlns:a16="http://schemas.microsoft.com/office/drawing/2014/main" id="{F00061E5-0660-4028-B64E-3488A1A9F326}"/>
              </a:ext>
            </a:extLst>
          </p:cNvPr>
          <p:cNvSpPr>
            <a:spLocks xmlns:a="http://schemas.openxmlformats.org/drawingml/2006/main" noGrp="1"/>
          </p:cNvSpPr>
          <p:nvPr/>
        </p:nvSpPr>
        <p:spPr>
          <a:xfrm xmlns:a="http://schemas.openxmlformats.org/drawingml/2006/main">
            <a:off x="6324600" y="0"/>
            <a:ext cx="228600" cy="685800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3" name="cover-eyebrow">
            <a:extLst xmlns:a="http://schemas.openxmlformats.org/drawingml/2006/main">
              <a:ext uri="{FF2B5EF4-FFF2-40B4-BE49-F238E27FC236}">
                <a16:creationId xmlns:a16="http://schemas.microsoft.com/office/drawing/2014/main" id="{0164F9BE-00CA-4EF9-8BFC-5962551AE074}"/>
              </a:ext>
            </a:extLst>
          </p:cNvPr>
          <p:cNvSpPr>
            <a:spLocks xmlns:a="http://schemas.openxmlformats.org/drawingml/2006/main" noGrp="1"/>
          </p:cNvSpPr>
          <p:nvPr/>
        </p:nvSpPr>
        <p:spPr>
          <a:xfrm xmlns:a="http://schemas.openxmlformats.org/drawingml/2006/main">
            <a:off x="609600" y="5524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650" b="1" spc="2">
                <a:solidFill>
                  <a:srgbClr val="D98B65"/>
                </a:solidFill>
                <a:latin typeface="Helvetica Neue"/>
                <a:ea typeface="Helvetica Neue"/>
                <a:cs typeface="Helvetica Neue"/>
              </a:defRPr>
            </a:pPr>
            <a:r>
              <a:rPr sz="1650" b="1" spc="2">
                <a:solidFill>
                  <a:srgbClr val="D98B65"/>
                </a:solidFill>
                <a:latin typeface="Helvetica Neue"/>
                <a:ea typeface="Helvetica Neue"/>
                <a:cs typeface="Helvetica Neue"/>
              </a:rPr>
              <a:t>TRACKFLOW</a:t>
            </a:r>
          </a:p>
        </p:txBody>
      </p:sp>
      <p:sp>
        <p:nvSpPr>
          <p:cNvPr id="4" name="cover-title">
            <a:extLst xmlns:a="http://schemas.openxmlformats.org/drawingml/2006/main">
              <a:ext uri="{FF2B5EF4-FFF2-40B4-BE49-F238E27FC236}">
                <a16:creationId xmlns:a16="http://schemas.microsoft.com/office/drawing/2014/main" id="{447331D4-4C90-40EC-A351-E8C2A08A417A}"/>
              </a:ext>
            </a:extLst>
          </p:cNvPr>
          <p:cNvSpPr>
            <a:spLocks xmlns:a="http://schemas.openxmlformats.org/drawingml/2006/main" noGrp="1"/>
          </p:cNvSpPr>
          <p:nvPr/>
        </p:nvSpPr>
        <p:spPr>
          <a:xfrm xmlns:a="http://schemas.openxmlformats.org/drawingml/2006/main">
            <a:off x="609600" y="1600200"/>
            <a:ext cx="521970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4650" b="1">
                <a:solidFill>
                  <a:srgbClr val="0C1421"/>
                </a:solidFill>
                <a:latin typeface="Helvetica Neue"/>
                <a:ea typeface="Helvetica Neue"/>
                <a:cs typeface="Helvetica Neue"/>
              </a:defRPr>
            </a:pPr>
            <a:r>
              <a:rPr sz="4650" b="1">
                <a:solidFill>
                  <a:srgbClr val="0C1421"/>
                </a:solidFill>
                <a:latin typeface="Helvetica Neue"/>
                <a:ea typeface="Helvetica Neue"/>
                <a:cs typeface="Helvetica Neue"/>
              </a:rPr>
              <a:t>AI that runs with</a:t>
            </a:r>
          </a:p>
          <a:p xmlns:a="http://schemas.openxmlformats.org/drawingml/2006/main">
            <a:pPr>
              <a:defRPr sz="4650" b="1">
                <a:solidFill>
                  <a:srgbClr val="0C1421"/>
                </a:solidFill>
                <a:latin typeface="Helvetica Neue"/>
                <a:ea typeface="Helvetica Neue"/>
                <a:cs typeface="Helvetica Neue"/>
              </a:defRPr>
            </a:pPr>
            <a:r>
              <a:rPr sz="4650" b="1">
                <a:solidFill>
                  <a:srgbClr val="0C1421"/>
                </a:solidFill>
                <a:latin typeface="Helvetica Neue"/>
                <a:ea typeface="Helvetica Neue"/>
                <a:cs typeface="Helvetica Neue"/>
              </a:rPr>
              <a:t>the operation.</a:t>
            </a:r>
          </a:p>
        </p:txBody>
      </p:sp>
      <p:sp>
        <p:nvSpPr>
          <p:cNvPr id="5" name="cover-subtitle">
            <a:extLst xmlns:a="http://schemas.openxmlformats.org/drawingml/2006/main">
              <a:ext uri="{FF2B5EF4-FFF2-40B4-BE49-F238E27FC236}">
                <a16:creationId xmlns:a16="http://schemas.microsoft.com/office/drawing/2014/main" id="{C9AA9709-E70E-4885-B6DA-35DD875AA76F}"/>
              </a:ext>
            </a:extLst>
          </p:cNvPr>
          <p:cNvSpPr>
            <a:spLocks xmlns:a="http://schemas.openxmlformats.org/drawingml/2006/main" noGrp="1"/>
          </p:cNvSpPr>
          <p:nvPr/>
        </p:nvSpPr>
        <p:spPr>
          <a:xfrm xmlns:a="http://schemas.openxmlformats.org/drawingml/2006/main">
            <a:off x="609600" y="3886200"/>
            <a:ext cx="49530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250">
                <a:solidFill>
                  <a:srgbClr val="5E6878"/>
                </a:solidFill>
                <a:latin typeface="Helvetica Neue"/>
                <a:ea typeface="Helvetica Neue"/>
                <a:cs typeface="Helvetica Neue"/>
              </a:defRPr>
            </a:pPr>
            <a:r>
              <a:rPr sz="2250">
                <a:solidFill>
                  <a:srgbClr val="5E6878"/>
                </a:solidFill>
                <a:latin typeface="Helvetica Neue"/>
                <a:ea typeface="Helvetica Neue"/>
                <a:cs typeface="Helvetica Neue"/>
              </a:rPr>
              <a:t>One operating system for warehouse, support, and commercial work.</a:t>
            </a:r>
          </a:p>
        </p:txBody>
      </p:sp>
      <p:sp>
        <p:nvSpPr>
          <p:cNvPr id="6" name="cover-byline">
            <a:extLst xmlns:a="http://schemas.openxmlformats.org/drawingml/2006/main">
              <a:ext uri="{FF2B5EF4-FFF2-40B4-BE49-F238E27FC236}">
                <a16:creationId xmlns:a16="http://schemas.microsoft.com/office/drawing/2014/main" id="{A174ADDF-6528-4A0E-BD16-40BE87E1B4A8}"/>
              </a:ext>
            </a:extLst>
          </p:cNvPr>
          <p:cNvSpPr>
            <a:spLocks xmlns:a="http://schemas.openxmlformats.org/drawingml/2006/main" noGrp="1"/>
          </p:cNvSpPr>
          <p:nvPr/>
        </p:nvSpPr>
        <p:spPr>
          <a:xfrm xmlns:a="http://schemas.openxmlformats.org/drawingml/2006/main">
            <a:off x="609600" y="600075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a:solidFill>
                  <a:srgbClr val="0C1421"/>
                </a:solidFill>
                <a:latin typeface="Helvetica Neue"/>
                <a:ea typeface="Helvetica Neue"/>
                <a:cs typeface="Helvetica Neue"/>
              </a:defRPr>
            </a:pPr>
            <a:r>
              <a:rPr sz="1500">
                <a:solidFill>
                  <a:srgbClr val="0C1421"/>
                </a:solidFill>
                <a:latin typeface="Helvetica Neue"/>
                <a:ea typeface="Helvetica Neue"/>
                <a:cs typeface="Helvetica Neue"/>
              </a:rPr>
              <a:t>Cory McDaniel · AI Engineering Final Project</a:t>
            </a:r>
          </a:p>
        </p:txBody>
      </p:sp>
    </p:spTree>
    <p:extLst>
      <p:ext uri="{BB962C8B-B14F-4D97-AF65-F5344CB8AC3E}">
        <p14:creationId xmlns:p14="http://schemas.microsoft.com/office/powerpoint/2010/main" val="138235960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itle-2">
            <a:extLst xmlns:a="http://schemas.openxmlformats.org/drawingml/2006/main">
              <a:ext uri="{FF2B5EF4-FFF2-40B4-BE49-F238E27FC236}">
                <a16:creationId xmlns:a16="http://schemas.microsoft.com/office/drawing/2014/main" id="{BFCDBE0B-0888-4595-8B17-C37947EC2A39}"/>
              </a:ext>
            </a:extLst>
          </p:cNvPr>
          <p:cNvSpPr>
            <a:spLocks xmlns:a="http://schemas.openxmlformats.org/drawingml/2006/main" noGrp="1"/>
          </p:cNvSpPr>
          <p:nvPr/>
        </p:nvSpPr>
        <p:spPr>
          <a:xfrm xmlns:a="http://schemas.openxmlformats.org/drawingml/2006/main">
            <a:off x="609600" y="4000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3750" b="1">
                <a:solidFill>
                  <a:srgbClr val="0C1421"/>
                </a:solidFill>
                <a:latin typeface="Helvetica Neue"/>
                <a:ea typeface="Helvetica Neue"/>
                <a:cs typeface="Helvetica Neue"/>
              </a:defRPr>
            </a:pPr>
            <a:r>
              <a:rPr sz="3750" b="1">
                <a:solidFill>
                  <a:srgbClr val="0C1421"/>
                </a:solidFill>
                <a:latin typeface="Helvetica Neue"/>
                <a:ea typeface="Helvetica Neue"/>
                <a:cs typeface="Helvetica Neue"/>
              </a:rPr>
              <a:t>The work was connected. The systems weren’t.</a:t>
            </a:r>
          </a:p>
        </p:txBody>
      </p:sp>
      <p:sp>
        <p:nvSpPr>
          <p:cNvPr id="2" name="subtitle-2">
            <a:extLst xmlns:a="http://schemas.openxmlformats.org/drawingml/2006/main">
              <a:ext uri="{FF2B5EF4-FFF2-40B4-BE49-F238E27FC236}">
                <a16:creationId xmlns:a16="http://schemas.microsoft.com/office/drawing/2014/main" id="{701B43A3-0B38-4D52-A529-FEAC50E79AD5}"/>
              </a:ext>
            </a:extLst>
          </p:cNvPr>
          <p:cNvSpPr>
            <a:spLocks xmlns:a="http://schemas.openxmlformats.org/drawingml/2006/main" noGrp="1"/>
          </p:cNvSpPr>
          <p:nvPr/>
        </p:nvSpPr>
        <p:spPr>
          <a:xfrm xmlns:a="http://schemas.openxmlformats.org/drawingml/2006/main">
            <a:off x="609600" y="10668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00">
                <a:solidFill>
                  <a:srgbClr val="5E6878"/>
                </a:solidFill>
                <a:latin typeface="Helvetica Neue"/>
                <a:ea typeface="Helvetica Neue"/>
                <a:cs typeface="Helvetica Neue"/>
              </a:defRPr>
            </a:pPr>
            <a:r>
              <a:rPr sz="1800">
                <a:solidFill>
                  <a:srgbClr val="5E6878"/>
                </a:solidFill>
                <a:latin typeface="Helvetica Neue"/>
                <a:ea typeface="Helvetica Neue"/>
                <a:cs typeface="Helvetica Neue"/>
              </a:rPr>
              <a:t>Every handoff added delay, inconsistency, or manual reconciliation.</a:t>
            </a:r>
          </a:p>
        </p:txBody>
      </p:sp>
      <p:sp>
        <p:nvSpPr>
          <p:cNvPr id="3" name="footer-2">
            <a:extLst xmlns:a="http://schemas.openxmlformats.org/drawingml/2006/main">
              <a:ext uri="{FF2B5EF4-FFF2-40B4-BE49-F238E27FC236}">
                <a16:creationId xmlns:a16="http://schemas.microsoft.com/office/drawing/2014/main" id="{4D1BC4E2-9CAB-4A6E-9987-DBD662B3968D}"/>
              </a:ext>
            </a:extLst>
          </p:cNvPr>
          <p:cNvSpPr>
            <a:spLocks xmlns:a="http://schemas.openxmlformats.org/drawingml/2006/main" noGrp="1"/>
          </p:cNvSpPr>
          <p:nvPr/>
        </p:nvSpPr>
        <p:spPr>
          <a:xfrm xmlns:a="http://schemas.openxmlformats.org/drawingml/2006/main">
            <a:off x="11277600" y="63627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a:solidFill>
                  <a:srgbClr val="5E6878"/>
                </a:solidFill>
                <a:latin typeface="Helvetica Neue"/>
                <a:ea typeface="Helvetica Neue"/>
                <a:cs typeface="Helvetica Neue"/>
              </a:defRPr>
            </a:pPr>
            <a:r>
              <a:rPr sz="1050">
                <a:solidFill>
                  <a:srgbClr val="5E6878"/>
                </a:solidFill>
                <a:latin typeface="Helvetica Neue"/>
                <a:ea typeface="Helvetica Neue"/>
                <a:cs typeface="Helvetica Neue"/>
              </a:rPr>
              <a:t>02</a:t>
            </a:r>
          </a:p>
        </p:txBody>
      </p:sp>
      <p:sp>
        <p:nvSpPr>
          <p:cNvPr id="4" name="rule-64-286">
            <a:extLst xmlns:a="http://schemas.openxmlformats.org/drawingml/2006/main">
              <a:ext uri="{FF2B5EF4-FFF2-40B4-BE49-F238E27FC236}">
                <a16:creationId xmlns:a16="http://schemas.microsoft.com/office/drawing/2014/main" id="{379847BD-A2AB-43EC-9083-9F35383CB44A}"/>
              </a:ext>
            </a:extLst>
          </p:cNvPr>
          <p:cNvSpPr>
            <a:spLocks xmlns:a="http://schemas.openxmlformats.org/drawingml/2006/main" noGrp="1"/>
          </p:cNvSpPr>
          <p:nvPr/>
        </p:nvSpPr>
        <p:spPr>
          <a:xfrm xmlns:a="http://schemas.openxmlformats.org/drawingml/2006/main">
            <a:off x="609600" y="2724150"/>
            <a:ext cx="3105150" cy="28575"/>
          </a:xfrm>
          <a:prstGeom xmlns:a="http://schemas.openxmlformats.org/drawingml/2006/main" prst="rect">
            <a:avLst/>
          </a:prstGeom>
          <a:solidFill xmlns:a="http://schemas.openxmlformats.org/drawingml/2006/main">
            <a:srgbClr val="B8C1CC"/>
          </a:solidFill>
          <a:ln xmlns:a="http://schemas.openxmlformats.org/drawingml/2006/main" w="0">
            <a:noFill/>
            <a:prstDash val="solid"/>
          </a:ln>
        </p:spPr>
      </p:sp>
      <p:sp>
        <p:nvSpPr>
          <p:cNvPr id="5" name="problem-title-0">
            <a:extLst xmlns:a="http://schemas.openxmlformats.org/drawingml/2006/main">
              <a:ext uri="{FF2B5EF4-FFF2-40B4-BE49-F238E27FC236}">
                <a16:creationId xmlns:a16="http://schemas.microsoft.com/office/drawing/2014/main" id="{458D6E8C-8F5A-4A91-A2A3-000E4EE8F519}"/>
              </a:ext>
            </a:extLst>
          </p:cNvPr>
          <p:cNvSpPr>
            <a:spLocks xmlns:a="http://schemas.openxmlformats.org/drawingml/2006/main" noGrp="1"/>
          </p:cNvSpPr>
          <p:nvPr/>
        </p:nvSpPr>
        <p:spPr>
          <a:xfrm xmlns:a="http://schemas.openxmlformats.org/drawingml/2006/main">
            <a:off x="609600" y="3028950"/>
            <a:ext cx="31051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400" b="1">
                <a:solidFill>
                  <a:srgbClr val="0C1421"/>
                </a:solidFill>
                <a:latin typeface="Helvetica Neue"/>
                <a:ea typeface="Helvetica Neue"/>
                <a:cs typeface="Helvetica Neue"/>
              </a:defRPr>
            </a:pPr>
            <a:r>
              <a:rPr sz="2400" b="1">
                <a:solidFill>
                  <a:srgbClr val="0C1421"/>
                </a:solidFill>
                <a:latin typeface="Helvetica Neue"/>
                <a:ea typeface="Helvetica Neue"/>
                <a:cs typeface="Helvetica Neue"/>
              </a:rPr>
              <a:t>Inventory stopped</a:t>
            </a:r>
          </a:p>
          <a:p xmlns:a="http://schemas.openxmlformats.org/drawingml/2006/main">
            <a:pPr>
              <a:defRPr sz="2400" b="1">
                <a:solidFill>
                  <a:srgbClr val="0C1421"/>
                </a:solidFill>
                <a:latin typeface="Helvetica Neue"/>
                <a:ea typeface="Helvetica Neue"/>
                <a:cs typeface="Helvetica Neue"/>
              </a:defRPr>
            </a:pPr>
            <a:r>
              <a:rPr sz="2400" b="1">
                <a:solidFill>
                  <a:srgbClr val="0C1421"/>
                </a:solidFill>
                <a:latin typeface="Helvetica Neue"/>
                <a:ea typeface="Helvetica Neue"/>
                <a:cs typeface="Helvetica Neue"/>
              </a:rPr>
              <a:t>at the warehouse boundary.</a:t>
            </a:r>
          </a:p>
        </p:txBody>
      </p:sp>
      <p:sp>
        <p:nvSpPr>
          <p:cNvPr id="6" name="problem-body-0">
            <a:extLst xmlns:a="http://schemas.openxmlformats.org/drawingml/2006/main">
              <a:ext uri="{FF2B5EF4-FFF2-40B4-BE49-F238E27FC236}">
                <a16:creationId xmlns:a16="http://schemas.microsoft.com/office/drawing/2014/main" id="{1CB7789A-57DB-403E-BB01-924DBD7AD703}"/>
              </a:ext>
            </a:extLst>
          </p:cNvPr>
          <p:cNvSpPr>
            <a:spLocks xmlns:a="http://schemas.openxmlformats.org/drawingml/2006/main" noGrp="1"/>
          </p:cNvSpPr>
          <p:nvPr/>
        </p:nvSpPr>
        <p:spPr>
          <a:xfrm xmlns:a="http://schemas.openxmlformats.org/drawingml/2006/main">
            <a:off x="609600" y="4400550"/>
            <a:ext cx="31051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725">
                <a:solidFill>
                  <a:srgbClr val="5E6878"/>
                </a:solidFill>
                <a:latin typeface="Helvetica Neue"/>
                <a:ea typeface="Helvetica Neue"/>
                <a:cs typeface="Helvetica Neue"/>
              </a:defRPr>
            </a:pPr>
            <a:r>
              <a:rPr sz="1725">
                <a:solidFill>
                  <a:srgbClr val="5E6878"/>
                </a:solidFill>
                <a:latin typeface="Helvetica Neue"/>
                <a:ea typeface="Helvetica Neue"/>
                <a:cs typeface="Helvetica Neue"/>
              </a:rPr>
              <a:t>Los Angeles and Zaragoza operated in separate systems, so the shared picture arrived late.</a:t>
            </a:r>
          </a:p>
        </p:txBody>
      </p:sp>
      <p:sp>
        <p:nvSpPr>
          <p:cNvPr id="7" name="rule-455-286">
            <a:extLst xmlns:a="http://schemas.openxmlformats.org/drawingml/2006/main">
              <a:ext uri="{FF2B5EF4-FFF2-40B4-BE49-F238E27FC236}">
                <a16:creationId xmlns:a16="http://schemas.microsoft.com/office/drawing/2014/main" id="{321B8F29-CA95-44C8-9012-508763C587E5}"/>
              </a:ext>
            </a:extLst>
          </p:cNvPr>
          <p:cNvSpPr>
            <a:spLocks xmlns:a="http://schemas.openxmlformats.org/drawingml/2006/main" noGrp="1"/>
          </p:cNvSpPr>
          <p:nvPr/>
        </p:nvSpPr>
        <p:spPr>
          <a:xfrm xmlns:a="http://schemas.openxmlformats.org/drawingml/2006/main">
            <a:off x="4333875" y="2724150"/>
            <a:ext cx="3105150" cy="28575"/>
          </a:xfrm>
          <a:prstGeom xmlns:a="http://schemas.openxmlformats.org/drawingml/2006/main" prst="rect">
            <a:avLst/>
          </a:prstGeom>
          <a:solidFill xmlns:a="http://schemas.openxmlformats.org/drawingml/2006/main">
            <a:srgbClr val="D98B65"/>
          </a:solidFill>
          <a:ln xmlns:a="http://schemas.openxmlformats.org/drawingml/2006/main" w="0">
            <a:noFill/>
            <a:prstDash val="solid"/>
          </a:ln>
        </p:spPr>
      </p:sp>
      <p:sp>
        <p:nvSpPr>
          <p:cNvPr id="8" name="problem-title-1">
            <a:extLst xmlns:a="http://schemas.openxmlformats.org/drawingml/2006/main">
              <a:ext uri="{FF2B5EF4-FFF2-40B4-BE49-F238E27FC236}">
                <a16:creationId xmlns:a16="http://schemas.microsoft.com/office/drawing/2014/main" id="{06EFE3FB-8427-4FE6-AE97-E58E2068D0C7}"/>
              </a:ext>
            </a:extLst>
          </p:cNvPr>
          <p:cNvSpPr>
            <a:spLocks xmlns:a="http://schemas.openxmlformats.org/drawingml/2006/main" noGrp="1"/>
          </p:cNvSpPr>
          <p:nvPr/>
        </p:nvSpPr>
        <p:spPr>
          <a:xfrm xmlns:a="http://schemas.openxmlformats.org/drawingml/2006/main">
            <a:off x="4333875" y="3028950"/>
            <a:ext cx="31051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400" b="1">
                <a:solidFill>
                  <a:srgbClr val="0C1421"/>
                </a:solidFill>
                <a:latin typeface="Helvetica Neue"/>
                <a:ea typeface="Helvetica Neue"/>
                <a:cs typeface="Helvetica Neue"/>
              </a:defRPr>
            </a:pPr>
            <a:r>
              <a:rPr sz="2400" b="1">
                <a:solidFill>
                  <a:srgbClr val="0C1421"/>
                </a:solidFill>
                <a:latin typeface="Helvetica Neue"/>
                <a:ea typeface="Helvetica Neue"/>
                <a:cs typeface="Helvetica Neue"/>
              </a:rPr>
              <a:t>Support repeated</a:t>
            </a:r>
          </a:p>
          <a:p xmlns:a="http://schemas.openxmlformats.org/drawingml/2006/main">
            <a:pPr>
              <a:defRPr sz="2400" b="1">
                <a:solidFill>
                  <a:srgbClr val="0C1421"/>
                </a:solidFill>
                <a:latin typeface="Helvetica Neue"/>
                <a:ea typeface="Helvetica Neue"/>
                <a:cs typeface="Helvetica Neue"/>
              </a:defRPr>
            </a:pPr>
            <a:r>
              <a:rPr sz="2400" b="1">
                <a:solidFill>
                  <a:srgbClr val="0C1421"/>
                </a:solidFill>
                <a:latin typeface="Helvetica Neue"/>
                <a:ea typeface="Helvetica Neue"/>
                <a:cs typeface="Helvetica Neue"/>
              </a:rPr>
              <a:t>answers by hand.</a:t>
            </a:r>
          </a:p>
        </p:txBody>
      </p:sp>
      <p:sp>
        <p:nvSpPr>
          <p:cNvPr id="9" name="problem-body-1">
            <a:extLst xmlns:a="http://schemas.openxmlformats.org/drawingml/2006/main">
              <a:ext uri="{FF2B5EF4-FFF2-40B4-BE49-F238E27FC236}">
                <a16:creationId xmlns:a16="http://schemas.microsoft.com/office/drawing/2014/main" id="{00E4EB14-F1D9-423C-A1B9-533557E95836}"/>
              </a:ext>
            </a:extLst>
          </p:cNvPr>
          <p:cNvSpPr>
            <a:spLocks xmlns:a="http://schemas.openxmlformats.org/drawingml/2006/main" noGrp="1"/>
          </p:cNvSpPr>
          <p:nvPr/>
        </p:nvSpPr>
        <p:spPr>
          <a:xfrm xmlns:a="http://schemas.openxmlformats.org/drawingml/2006/main">
            <a:off x="4333875" y="4400550"/>
            <a:ext cx="31051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725">
                <a:solidFill>
                  <a:srgbClr val="5E6878"/>
                </a:solidFill>
                <a:latin typeface="Helvetica Neue"/>
                <a:ea typeface="Helvetica Neue"/>
                <a:cs typeface="Helvetica Neue"/>
              </a:defRPr>
            </a:pPr>
            <a:r>
              <a:rPr sz="1725">
                <a:solidFill>
                  <a:srgbClr val="5E6878"/>
                </a:solidFill>
                <a:latin typeface="Helvetica Neue"/>
                <a:ea typeface="Helvetica Neue"/>
                <a:cs typeface="Helvetica Neue"/>
              </a:rPr>
              <a:t>Policy lived in documents while most customer questions followed the same patterns.</a:t>
            </a:r>
          </a:p>
        </p:txBody>
      </p:sp>
      <p:sp>
        <p:nvSpPr>
          <p:cNvPr id="10" name="rule-846-286">
            <a:extLst xmlns:a="http://schemas.openxmlformats.org/drawingml/2006/main">
              <a:ext uri="{FF2B5EF4-FFF2-40B4-BE49-F238E27FC236}">
                <a16:creationId xmlns:a16="http://schemas.microsoft.com/office/drawing/2014/main" id="{909F60FE-1B36-42E4-88F4-3085DDCD2557}"/>
              </a:ext>
            </a:extLst>
          </p:cNvPr>
          <p:cNvSpPr>
            <a:spLocks xmlns:a="http://schemas.openxmlformats.org/drawingml/2006/main" noGrp="1"/>
          </p:cNvSpPr>
          <p:nvPr/>
        </p:nvSpPr>
        <p:spPr>
          <a:xfrm xmlns:a="http://schemas.openxmlformats.org/drawingml/2006/main">
            <a:off x="8058150" y="2724150"/>
            <a:ext cx="3105150" cy="28575"/>
          </a:xfrm>
          <a:prstGeom xmlns:a="http://schemas.openxmlformats.org/drawingml/2006/main" prst="rect">
            <a:avLst/>
          </a:prstGeom>
          <a:solidFill xmlns:a="http://schemas.openxmlformats.org/drawingml/2006/main">
            <a:srgbClr val="B8C1CC"/>
          </a:solidFill>
          <a:ln xmlns:a="http://schemas.openxmlformats.org/drawingml/2006/main" w="0">
            <a:noFill/>
            <a:prstDash val="solid"/>
          </a:ln>
        </p:spPr>
      </p:sp>
      <p:sp>
        <p:nvSpPr>
          <p:cNvPr id="11" name="problem-title-2">
            <a:extLst xmlns:a="http://schemas.openxmlformats.org/drawingml/2006/main">
              <a:ext uri="{FF2B5EF4-FFF2-40B4-BE49-F238E27FC236}">
                <a16:creationId xmlns:a16="http://schemas.microsoft.com/office/drawing/2014/main" id="{155815DA-5AE2-45B0-80AB-1D2307723699}"/>
              </a:ext>
            </a:extLst>
          </p:cNvPr>
          <p:cNvSpPr>
            <a:spLocks xmlns:a="http://schemas.openxmlformats.org/drawingml/2006/main" noGrp="1"/>
          </p:cNvSpPr>
          <p:nvPr/>
        </p:nvSpPr>
        <p:spPr>
          <a:xfrm xmlns:a="http://schemas.openxmlformats.org/drawingml/2006/main">
            <a:off x="8058150" y="3028950"/>
            <a:ext cx="31051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400" b="1">
                <a:solidFill>
                  <a:srgbClr val="0C1421"/>
                </a:solidFill>
                <a:latin typeface="Helvetica Neue"/>
                <a:ea typeface="Helvetica Neue"/>
                <a:cs typeface="Helvetica Neue"/>
              </a:defRPr>
            </a:pPr>
            <a:r>
              <a:rPr sz="2400" b="1">
                <a:solidFill>
                  <a:srgbClr val="0C1421"/>
                </a:solidFill>
                <a:latin typeface="Helvetica Neue"/>
                <a:ea typeface="Helvetica Neue"/>
                <a:cs typeface="Helvetica Neue"/>
              </a:rPr>
              <a:t>RFP work crossed</a:t>
            </a:r>
          </a:p>
          <a:p xmlns:a="http://schemas.openxmlformats.org/drawingml/2006/main">
            <a:pPr>
              <a:defRPr sz="2400" b="1">
                <a:solidFill>
                  <a:srgbClr val="0C1421"/>
                </a:solidFill>
                <a:latin typeface="Helvetica Neue"/>
                <a:ea typeface="Helvetica Neue"/>
                <a:cs typeface="Helvetica Neue"/>
              </a:defRPr>
            </a:pPr>
            <a:r>
              <a:rPr sz="2400" b="1">
                <a:solidFill>
                  <a:srgbClr val="0C1421"/>
                </a:solidFill>
                <a:latin typeface="Helvetica Neue"/>
                <a:ea typeface="Helvetica Neue"/>
                <a:cs typeface="Helvetica Neue"/>
              </a:rPr>
              <a:t>teams manually.</a:t>
            </a:r>
          </a:p>
        </p:txBody>
      </p:sp>
      <p:sp>
        <p:nvSpPr>
          <p:cNvPr id="12" name="problem-body-2">
            <a:extLst xmlns:a="http://schemas.openxmlformats.org/drawingml/2006/main">
              <a:ext uri="{FF2B5EF4-FFF2-40B4-BE49-F238E27FC236}">
                <a16:creationId xmlns:a16="http://schemas.microsoft.com/office/drawing/2014/main" id="{B4DD6964-5198-46E8-838E-041DFD862FC7}"/>
              </a:ext>
            </a:extLst>
          </p:cNvPr>
          <p:cNvSpPr>
            <a:spLocks xmlns:a="http://schemas.openxmlformats.org/drawingml/2006/main" noGrp="1"/>
          </p:cNvSpPr>
          <p:nvPr/>
        </p:nvSpPr>
        <p:spPr>
          <a:xfrm xmlns:a="http://schemas.openxmlformats.org/drawingml/2006/main">
            <a:off x="8058150" y="4400550"/>
            <a:ext cx="31051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725">
                <a:solidFill>
                  <a:srgbClr val="5E6878"/>
                </a:solidFill>
                <a:latin typeface="Helvetica Neue"/>
                <a:ea typeface="Helvetica Neue"/>
                <a:cs typeface="Helvetica Neue"/>
              </a:defRPr>
            </a:pPr>
            <a:r>
              <a:rPr sz="1725">
                <a:solidFill>
                  <a:srgbClr val="5E6878"/>
                </a:solidFill>
                <a:latin typeface="Helvetica Neue"/>
                <a:ea typeface="Helvetica Neue"/>
                <a:cs typeface="Helvetica Neue"/>
              </a:rPr>
              <a:t>Commercial requests needed routing, drafting, review, and approval without one durable workflow.</a:t>
            </a:r>
          </a:p>
        </p:txBody>
      </p:sp>
    </p:spTree>
    <p:extLst>
      <p:ext uri="{BB962C8B-B14F-4D97-AF65-F5344CB8AC3E}">
        <p14:creationId xmlns:p14="http://schemas.microsoft.com/office/powerpoint/2010/main" val="194209834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3">
            <a:extLst xmlns:a="http://schemas.openxmlformats.org/drawingml/2006/main">
              <a:ext uri="{FF2B5EF4-FFF2-40B4-BE49-F238E27FC236}">
                <a16:creationId xmlns:a16="http://schemas.microsoft.com/office/drawing/2014/main" id="{DFD30666-0A0B-4C9D-9144-EB4ADC4F288E}"/>
              </a:ext>
            </a:extLst>
          </p:cNvPr>
          <p:cNvSpPr>
            <a:spLocks xmlns:a="http://schemas.openxmlformats.org/drawingml/2006/main" noGrp="1"/>
          </p:cNvSpPr>
          <p:nvPr/>
        </p:nvSpPr>
        <p:spPr>
          <a:xfrm xmlns:a="http://schemas.openxmlformats.org/drawingml/2006/main">
            <a:off x="609600" y="4000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3750" b="1">
                <a:solidFill>
                  <a:srgbClr val="0C1421"/>
                </a:solidFill>
                <a:latin typeface="Helvetica Neue"/>
                <a:ea typeface="Helvetica Neue"/>
                <a:cs typeface="Helvetica Neue"/>
              </a:defRPr>
            </a:pPr>
            <a:r>
              <a:rPr sz="3750" b="1">
                <a:solidFill>
                  <a:srgbClr val="0C1421"/>
                </a:solidFill>
                <a:latin typeface="Helvetica Neue"/>
                <a:ea typeface="Helvetica Neue"/>
                <a:cs typeface="Helvetica Neue"/>
              </a:rPr>
              <a:t>Operational data becomes a shared view.</a:t>
            </a:r>
          </a:p>
        </p:txBody>
      </p:sp>
      <p:sp>
        <p:nvSpPr>
          <p:cNvPr id="2" name="subtitle-3">
            <a:extLst xmlns:a="http://schemas.openxmlformats.org/drawingml/2006/main">
              <a:ext uri="{FF2B5EF4-FFF2-40B4-BE49-F238E27FC236}">
                <a16:creationId xmlns:a16="http://schemas.microsoft.com/office/drawing/2014/main" id="{7010F071-1D26-49C2-936B-FED27DE42717}"/>
              </a:ext>
            </a:extLst>
          </p:cNvPr>
          <p:cNvSpPr>
            <a:spLocks xmlns:a="http://schemas.openxmlformats.org/drawingml/2006/main" noGrp="1"/>
          </p:cNvSpPr>
          <p:nvPr/>
        </p:nvSpPr>
        <p:spPr>
          <a:xfrm xmlns:a="http://schemas.openxmlformats.org/drawingml/2006/main">
            <a:off x="609600" y="10668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00">
                <a:solidFill>
                  <a:srgbClr val="5E6878"/>
                </a:solidFill>
                <a:latin typeface="Helvetica Neue"/>
                <a:ea typeface="Helvetica Neue"/>
                <a:cs typeface="Helvetica Neue"/>
              </a:defRPr>
            </a:pPr>
            <a:r>
              <a:rPr sz="1800">
                <a:solidFill>
                  <a:srgbClr val="5E6878"/>
                </a:solidFill>
                <a:latin typeface="Helvetica Neue"/>
                <a:ea typeface="Helvetica Neue"/>
                <a:cs typeface="Helvetica Neue"/>
              </a:rPr>
              <a:t>A single authenticated workspace connects live warehouse activity with AI assistance.</a:t>
            </a:r>
          </a:p>
        </p:txBody>
      </p:sp>
      <p:sp>
        <p:nvSpPr>
          <p:cNvPr id="3" name="footer-3">
            <a:extLst xmlns:a="http://schemas.openxmlformats.org/drawingml/2006/main">
              <a:ext uri="{FF2B5EF4-FFF2-40B4-BE49-F238E27FC236}">
                <a16:creationId xmlns:a16="http://schemas.microsoft.com/office/drawing/2014/main" id="{F093C6B6-75D2-49B3-9606-1EF07DD940FB}"/>
              </a:ext>
            </a:extLst>
          </p:cNvPr>
          <p:cNvSpPr>
            <a:spLocks xmlns:a="http://schemas.openxmlformats.org/drawingml/2006/main" noGrp="1"/>
          </p:cNvSpPr>
          <p:nvPr/>
        </p:nvSpPr>
        <p:spPr>
          <a:xfrm xmlns:a="http://schemas.openxmlformats.org/drawingml/2006/main">
            <a:off x="11277600" y="63627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a:solidFill>
                  <a:srgbClr val="5E6878"/>
                </a:solidFill>
                <a:latin typeface="Helvetica Neue"/>
                <a:ea typeface="Helvetica Neue"/>
                <a:cs typeface="Helvetica Neue"/>
              </a:defRPr>
            </a:pPr>
            <a:r>
              <a:rPr sz="1050">
                <a:solidFill>
                  <a:srgbClr val="5E6878"/>
                </a:solidFill>
                <a:latin typeface="Helvetica Neue"/>
                <a:ea typeface="Helvetica Neue"/>
                <a:cs typeface="Helvetica Neue"/>
              </a:rPr>
              <a:t>03</a:t>
            </a:r>
          </a:p>
        </p:txBody>
      </p:sp>
      <p:sp>
        <p:nvSpPr>
          <p:cNvPr id="4" name="solution-claim">
            <a:extLst xmlns:a="http://schemas.openxmlformats.org/drawingml/2006/main">
              <a:ext uri="{FF2B5EF4-FFF2-40B4-BE49-F238E27FC236}">
                <a16:creationId xmlns:a16="http://schemas.microsoft.com/office/drawing/2014/main" id="{19A15B5C-3B13-4E45-875F-35B63F1ECBE1}"/>
              </a:ext>
            </a:extLst>
          </p:cNvPr>
          <p:cNvSpPr>
            <a:spLocks xmlns:a="http://schemas.openxmlformats.org/drawingml/2006/main" noGrp="1"/>
          </p:cNvSpPr>
          <p:nvPr/>
        </p:nvSpPr>
        <p:spPr>
          <a:xfrm xmlns:a="http://schemas.openxmlformats.org/drawingml/2006/main">
            <a:off x="609600" y="1866900"/>
            <a:ext cx="29527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550" b="1">
                <a:solidFill>
                  <a:srgbClr val="0C1421"/>
                </a:solidFill>
                <a:latin typeface="Helvetica Neue"/>
                <a:ea typeface="Helvetica Neue"/>
                <a:cs typeface="Helvetica Neue"/>
              </a:defRPr>
            </a:pPr>
            <a:r>
              <a:rPr sz="2550" b="1">
                <a:solidFill>
                  <a:srgbClr val="0C1421"/>
                </a:solidFill>
                <a:latin typeface="Helvetica Neue"/>
                <a:ea typeface="Helvetica Neue"/>
                <a:cs typeface="Helvetica Neue"/>
              </a:rPr>
              <a:t>One place to see what is happening—and act on it.</a:t>
            </a:r>
          </a:p>
        </p:txBody>
      </p:sp>
      <p:sp>
        <p:nvSpPr>
          <p:cNvPr id="5" name="solution-body">
            <a:extLst xmlns:a="http://schemas.openxmlformats.org/drawingml/2006/main">
              <a:ext uri="{FF2B5EF4-FFF2-40B4-BE49-F238E27FC236}">
                <a16:creationId xmlns:a16="http://schemas.microsoft.com/office/drawing/2014/main" id="{EC75A63A-6FBC-48F0-8AC0-2641D7BEF8F5}"/>
              </a:ext>
            </a:extLst>
          </p:cNvPr>
          <p:cNvSpPr>
            <a:spLocks xmlns:a="http://schemas.openxmlformats.org/drawingml/2006/main" noGrp="1"/>
          </p:cNvSpPr>
          <p:nvPr/>
        </p:nvSpPr>
        <p:spPr>
          <a:xfrm xmlns:a="http://schemas.openxmlformats.org/drawingml/2006/main">
            <a:off x="609600" y="3543300"/>
            <a:ext cx="295275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00">
                <a:solidFill>
                  <a:srgbClr val="5E6878"/>
                </a:solidFill>
                <a:latin typeface="Helvetica Neue"/>
                <a:ea typeface="Helvetica Neue"/>
                <a:cs typeface="Helvetica Neue"/>
              </a:defRPr>
            </a:pPr>
            <a:r>
              <a:rPr sz="1800">
                <a:solidFill>
                  <a:srgbClr val="5E6878"/>
                </a:solidFill>
                <a:latin typeface="Helvetica Neue"/>
                <a:ea typeface="Helvetica Neue"/>
                <a:cs typeface="Helvetica Neue"/>
              </a:rPr>
              <a:t>Live fulfilment totals refresh automatically. Business, technical, and agent workflows share the same operational context.</a:t>
            </a:r>
          </a:p>
        </p:txBody>
      </p:sp>
      <p:sp>
        <p:nvSpPr>
          <p:cNvPr id="6" name="rule-64-572">
            <a:extLst xmlns:a="http://schemas.openxmlformats.org/drawingml/2006/main">
              <a:ext uri="{FF2B5EF4-FFF2-40B4-BE49-F238E27FC236}">
                <a16:creationId xmlns:a16="http://schemas.microsoft.com/office/drawing/2014/main" id="{4A313664-B611-4223-88F0-E218CF5F0FFD}"/>
              </a:ext>
            </a:extLst>
          </p:cNvPr>
          <p:cNvSpPr>
            <a:spLocks xmlns:a="http://schemas.openxmlformats.org/drawingml/2006/main" noGrp="1"/>
          </p:cNvSpPr>
          <p:nvPr/>
        </p:nvSpPr>
        <p:spPr>
          <a:xfrm xmlns:a="http://schemas.openxmlformats.org/drawingml/2006/main">
            <a:off x="609600" y="5448300"/>
            <a:ext cx="2952750" cy="381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solution-proof">
            <a:extLst xmlns:a="http://schemas.openxmlformats.org/drawingml/2006/main">
              <a:ext uri="{FF2B5EF4-FFF2-40B4-BE49-F238E27FC236}">
                <a16:creationId xmlns:a16="http://schemas.microsoft.com/office/drawing/2014/main" id="{9951FE26-2575-469C-BF58-1FE51EFB7F4B}"/>
              </a:ext>
            </a:extLst>
          </p:cNvPr>
          <p:cNvSpPr>
            <a:spLocks xmlns:a="http://schemas.openxmlformats.org/drawingml/2006/main" noGrp="1"/>
          </p:cNvSpPr>
          <p:nvPr/>
        </p:nvSpPr>
        <p:spPr>
          <a:xfrm xmlns:a="http://schemas.openxmlformats.org/drawingml/2006/main">
            <a:off x="609600" y="5619750"/>
            <a:ext cx="295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650" b="1">
                <a:solidFill>
                  <a:srgbClr val="0C1421"/>
                </a:solidFill>
                <a:latin typeface="Helvetica Neue"/>
                <a:ea typeface="Helvetica Neue"/>
                <a:cs typeface="Helvetica Neue"/>
              </a:defRPr>
            </a:pPr>
            <a:r>
              <a:rPr sz="1650" b="1">
                <a:solidFill>
                  <a:srgbClr val="0C1421"/>
                </a:solidFill>
                <a:latin typeface="Helvetica Neue"/>
                <a:ea typeface="Helvetica Neue"/>
                <a:cs typeface="Helvetica Neue"/>
              </a:rPr>
              <a:t>Two warehouses. One system of record.</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7daa45e853af4322"/>
          <a:stretch xmlns:a="http://schemas.openxmlformats.org/drawingml/2006/main"/>
        </p:blipFill>
        <p:spPr>
          <a:xfrm xmlns:a="http://schemas.openxmlformats.org/drawingml/2006/main">
            <a:off x="3944408" y="1790700"/>
            <a:ext cx="7636933" cy="4295775"/>
          </a:xfrm>
          <a:prstGeom xmlns:a="http://schemas.openxmlformats.org/drawingml/2006/main" prst="roundRect">
            <a:avLst>
              <a:gd name="adj" fmla="val 1774"/>
            </a:avLst>
          </a:prstGeom>
        </p:spPr>
      </p:pic>
    </p:spTree>
    <p:extLst>
      <p:ext uri="{BB962C8B-B14F-4D97-AF65-F5344CB8AC3E}">
        <p14:creationId xmlns:p14="http://schemas.microsoft.com/office/powerpoint/2010/main" val="187917225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itle-4">
            <a:extLst xmlns:a="http://schemas.openxmlformats.org/drawingml/2006/main">
              <a:ext uri="{FF2B5EF4-FFF2-40B4-BE49-F238E27FC236}">
                <a16:creationId xmlns:a16="http://schemas.microsoft.com/office/drawing/2014/main" id="{54511662-15B7-4614-903F-260852A32B9F}"/>
              </a:ext>
            </a:extLst>
          </p:cNvPr>
          <p:cNvSpPr>
            <a:spLocks xmlns:a="http://schemas.openxmlformats.org/drawingml/2006/main" noGrp="1"/>
          </p:cNvSpPr>
          <p:nvPr/>
        </p:nvSpPr>
        <p:spPr>
          <a:xfrm xmlns:a="http://schemas.openxmlformats.org/drawingml/2006/main">
            <a:off x="609600" y="4000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3750" b="1">
                <a:solidFill>
                  <a:srgbClr val="0C1421"/>
                </a:solidFill>
                <a:latin typeface="Helvetica Neue"/>
                <a:ea typeface="Helvetica Neue"/>
                <a:cs typeface="Helvetica Neue"/>
              </a:defRPr>
            </a:pPr>
            <a:r>
              <a:rPr sz="3750" b="1">
                <a:solidFill>
                  <a:srgbClr val="0C1421"/>
                </a:solidFill>
                <a:latin typeface="Helvetica Neue"/>
                <a:ea typeface="Helvetica Neue"/>
                <a:cs typeface="Helvetica Neue"/>
              </a:rPr>
              <a:t>Ask one question. Reach the right source.</a:t>
            </a:r>
          </a:p>
        </p:txBody>
      </p:sp>
      <p:sp>
        <p:nvSpPr>
          <p:cNvPr id="2" name="subtitle-4">
            <a:extLst xmlns:a="http://schemas.openxmlformats.org/drawingml/2006/main">
              <a:ext uri="{FF2B5EF4-FFF2-40B4-BE49-F238E27FC236}">
                <a16:creationId xmlns:a16="http://schemas.microsoft.com/office/drawing/2014/main" id="{5014F002-65AF-4ECD-BFE9-48C32CC2242B}"/>
              </a:ext>
            </a:extLst>
          </p:cNvPr>
          <p:cNvSpPr>
            <a:spLocks xmlns:a="http://schemas.openxmlformats.org/drawingml/2006/main" noGrp="1"/>
          </p:cNvSpPr>
          <p:nvPr/>
        </p:nvSpPr>
        <p:spPr>
          <a:xfrm xmlns:a="http://schemas.openxmlformats.org/drawingml/2006/main">
            <a:off x="609600" y="10668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00">
                <a:solidFill>
                  <a:srgbClr val="5E6878"/>
                </a:solidFill>
                <a:latin typeface="Helvetica Neue"/>
                <a:ea typeface="Helvetica Neue"/>
                <a:cs typeface="Helvetica Neue"/>
              </a:defRPr>
            </a:pPr>
            <a:r>
              <a:rPr sz="1800">
                <a:solidFill>
                  <a:srgbClr val="5E6878"/>
                </a:solidFill>
                <a:latin typeface="Helvetica Neue"/>
                <a:ea typeface="Helvetica Neue"/>
                <a:cs typeface="Helvetica Neue"/>
              </a:rPr>
              <a:t>The agent routes between policy knowledge and live ticket status—with guardrails.</a:t>
            </a:r>
          </a:p>
        </p:txBody>
      </p:sp>
      <p:sp>
        <p:nvSpPr>
          <p:cNvPr id="3" name="footer-4">
            <a:extLst xmlns:a="http://schemas.openxmlformats.org/drawingml/2006/main">
              <a:ext uri="{FF2B5EF4-FFF2-40B4-BE49-F238E27FC236}">
                <a16:creationId xmlns:a16="http://schemas.microsoft.com/office/drawing/2014/main" id="{87399A1D-FE29-4B92-98CE-B15BDC020F5A}"/>
              </a:ext>
            </a:extLst>
          </p:cNvPr>
          <p:cNvSpPr>
            <a:spLocks xmlns:a="http://schemas.openxmlformats.org/drawingml/2006/main" noGrp="1"/>
          </p:cNvSpPr>
          <p:nvPr/>
        </p:nvSpPr>
        <p:spPr>
          <a:xfrm xmlns:a="http://schemas.openxmlformats.org/drawingml/2006/main">
            <a:off x="11277600" y="63627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a:solidFill>
                  <a:srgbClr val="5E6878"/>
                </a:solidFill>
                <a:latin typeface="Helvetica Neue"/>
                <a:ea typeface="Helvetica Neue"/>
                <a:cs typeface="Helvetica Neue"/>
              </a:defRPr>
            </a:pPr>
            <a:r>
              <a:rPr sz="1050">
                <a:solidFill>
                  <a:srgbClr val="5E6878"/>
                </a:solidFill>
                <a:latin typeface="Helvetica Neue"/>
                <a:ea typeface="Helvetica Neue"/>
                <a:cs typeface="Helvetica Neue"/>
              </a:rPr>
              <a:t>04</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93ea4c47c0e4194"/>
          <a:stretch xmlns:a="http://schemas.openxmlformats.org/drawingml/2006/main"/>
        </p:blipFill>
        <p:spPr>
          <a:xfrm xmlns:a="http://schemas.openxmlformats.org/drawingml/2006/main">
            <a:off x="612775" y="1752600"/>
            <a:ext cx="7518400" cy="4229100"/>
          </a:xfrm>
          <a:prstGeom xmlns:a="http://schemas.openxmlformats.org/drawingml/2006/main" prst="roundRect">
            <a:avLst>
              <a:gd name="adj" fmla="val 1802"/>
            </a:avLst>
          </a:prstGeom>
        </p:spPr>
      </p:pic>
      <p:sp>
        <p:nvSpPr>
          <p:cNvPr id="5" name="ai-step-1">
            <a:extLst xmlns:a="http://schemas.openxmlformats.org/drawingml/2006/main">
              <a:ext uri="{FF2B5EF4-FFF2-40B4-BE49-F238E27FC236}">
                <a16:creationId xmlns:a16="http://schemas.microsoft.com/office/drawing/2014/main" id="{70392EB3-862A-4A37-9FC2-57F35A2640D7}"/>
              </a:ext>
            </a:extLst>
          </p:cNvPr>
          <p:cNvSpPr>
            <a:spLocks xmlns:a="http://schemas.openxmlformats.org/drawingml/2006/main" noGrp="1"/>
          </p:cNvSpPr>
          <p:nvPr/>
        </p:nvSpPr>
        <p:spPr>
          <a:xfrm xmlns:a="http://schemas.openxmlformats.org/drawingml/2006/main">
            <a:off x="8591550" y="20002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ROUTE</a:t>
            </a:r>
          </a:p>
        </p:txBody>
      </p:sp>
      <p:sp>
        <p:nvSpPr>
          <p:cNvPr id="6" name="ai-body-1">
            <a:extLst xmlns:a="http://schemas.openxmlformats.org/drawingml/2006/main">
              <a:ext uri="{FF2B5EF4-FFF2-40B4-BE49-F238E27FC236}">
                <a16:creationId xmlns:a16="http://schemas.microsoft.com/office/drawing/2014/main" id="{CA8045EF-9566-4A38-ABAA-89E1FC901257}"/>
              </a:ext>
            </a:extLst>
          </p:cNvPr>
          <p:cNvSpPr>
            <a:spLocks xmlns:a="http://schemas.openxmlformats.org/drawingml/2006/main" noGrp="1"/>
          </p:cNvSpPr>
          <p:nvPr/>
        </p:nvSpPr>
        <p:spPr>
          <a:xfrm xmlns:a="http://schemas.openxmlformats.org/drawingml/2006/main">
            <a:off x="8591550" y="2343150"/>
            <a:ext cx="2781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75" b="1">
                <a:solidFill>
                  <a:srgbClr val="0C1421"/>
                </a:solidFill>
                <a:latin typeface="Helvetica Neue"/>
                <a:ea typeface="Helvetica Neue"/>
                <a:cs typeface="Helvetica Neue"/>
              </a:defRPr>
            </a:pPr>
            <a:r>
              <a:rPr sz="1875" b="1">
                <a:solidFill>
                  <a:srgbClr val="0C1421"/>
                </a:solidFill>
                <a:latin typeface="Helvetica Neue"/>
                <a:ea typeface="Helvetica Neue"/>
                <a:cs typeface="Helvetica Neue"/>
              </a:rPr>
              <a:t>The graph selects RAG, a live tool, or both.</a:t>
            </a:r>
          </a:p>
        </p:txBody>
      </p:sp>
      <p:sp>
        <p:nvSpPr>
          <p:cNvPr id="7" name="rule-902-340">
            <a:extLst xmlns:a="http://schemas.openxmlformats.org/drawingml/2006/main">
              <a:ext uri="{FF2B5EF4-FFF2-40B4-BE49-F238E27FC236}">
                <a16:creationId xmlns:a16="http://schemas.microsoft.com/office/drawing/2014/main" id="{C6EE20DF-4EC2-41E5-BA00-DE0D3CDBE0C4}"/>
              </a:ext>
            </a:extLst>
          </p:cNvPr>
          <p:cNvSpPr>
            <a:spLocks xmlns:a="http://schemas.openxmlformats.org/drawingml/2006/main" noGrp="1"/>
          </p:cNvSpPr>
          <p:nvPr/>
        </p:nvSpPr>
        <p:spPr>
          <a:xfrm xmlns:a="http://schemas.openxmlformats.org/drawingml/2006/main">
            <a:off x="8591550" y="3238500"/>
            <a:ext cx="2781300" cy="19050"/>
          </a:xfrm>
          <a:prstGeom xmlns:a="http://schemas.openxmlformats.org/drawingml/2006/main" prst="rect">
            <a:avLst/>
          </a:prstGeom>
          <a:solidFill xmlns:a="http://schemas.openxmlformats.org/drawingml/2006/main">
            <a:srgbClr val="B8C1CC"/>
          </a:solidFill>
          <a:ln xmlns:a="http://schemas.openxmlformats.org/drawingml/2006/main" w="0">
            <a:noFill/>
            <a:prstDash val="solid"/>
          </a:ln>
        </p:spPr>
      </p:sp>
      <p:sp>
        <p:nvSpPr>
          <p:cNvPr id="8" name="ai-step-2">
            <a:extLst xmlns:a="http://schemas.openxmlformats.org/drawingml/2006/main">
              <a:ext uri="{FF2B5EF4-FFF2-40B4-BE49-F238E27FC236}">
                <a16:creationId xmlns:a16="http://schemas.microsoft.com/office/drawing/2014/main" id="{40981316-BA1C-4091-AC22-73B4F2680D79}"/>
              </a:ext>
            </a:extLst>
          </p:cNvPr>
          <p:cNvSpPr>
            <a:spLocks xmlns:a="http://schemas.openxmlformats.org/drawingml/2006/main" noGrp="1"/>
          </p:cNvSpPr>
          <p:nvPr/>
        </p:nvSpPr>
        <p:spPr>
          <a:xfrm xmlns:a="http://schemas.openxmlformats.org/drawingml/2006/main">
            <a:off x="8591550" y="35052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b="1">
                <a:solidFill>
                  <a:srgbClr val="D98B65"/>
                </a:solidFill>
                <a:latin typeface="Helvetica Neue"/>
                <a:ea typeface="Helvetica Neue"/>
                <a:cs typeface="Helvetica Neue"/>
              </a:defRPr>
            </a:pPr>
            <a:r>
              <a:rPr sz="1500" b="1">
                <a:solidFill>
                  <a:srgbClr val="D98B65"/>
                </a:solidFill>
                <a:latin typeface="Helvetica Neue"/>
                <a:ea typeface="Helvetica Neue"/>
                <a:cs typeface="Helvetica Neue"/>
              </a:rPr>
              <a:t>GROUND</a:t>
            </a:r>
          </a:p>
        </p:txBody>
      </p:sp>
      <p:sp>
        <p:nvSpPr>
          <p:cNvPr id="9" name="ai-body-2">
            <a:extLst xmlns:a="http://schemas.openxmlformats.org/drawingml/2006/main">
              <a:ext uri="{FF2B5EF4-FFF2-40B4-BE49-F238E27FC236}">
                <a16:creationId xmlns:a16="http://schemas.microsoft.com/office/drawing/2014/main" id="{4CFFF15D-4D58-4136-B954-8F19A10E2E18}"/>
              </a:ext>
            </a:extLst>
          </p:cNvPr>
          <p:cNvSpPr>
            <a:spLocks xmlns:a="http://schemas.openxmlformats.org/drawingml/2006/main" noGrp="1"/>
          </p:cNvSpPr>
          <p:nvPr/>
        </p:nvSpPr>
        <p:spPr>
          <a:xfrm xmlns:a="http://schemas.openxmlformats.org/drawingml/2006/main">
            <a:off x="8591550" y="3848100"/>
            <a:ext cx="27813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75" b="1">
                <a:solidFill>
                  <a:srgbClr val="0C1421"/>
                </a:solidFill>
                <a:latin typeface="Helvetica Neue"/>
                <a:ea typeface="Helvetica Neue"/>
                <a:cs typeface="Helvetica Neue"/>
              </a:defRPr>
            </a:pPr>
            <a:r>
              <a:rPr sz="1875" b="1">
                <a:solidFill>
                  <a:srgbClr val="0C1421"/>
                </a:solidFill>
                <a:latin typeface="Helvetica Neue"/>
                <a:ea typeface="Helvetica Neue"/>
                <a:cs typeface="Helvetica Neue"/>
              </a:rPr>
              <a:t>Answers stay inside approved policy and owner-scoped data.</a:t>
            </a:r>
          </a:p>
        </p:txBody>
      </p:sp>
      <p:sp>
        <p:nvSpPr>
          <p:cNvPr id="10" name="rule-902-520">
            <a:extLst xmlns:a="http://schemas.openxmlformats.org/drawingml/2006/main">
              <a:ext uri="{FF2B5EF4-FFF2-40B4-BE49-F238E27FC236}">
                <a16:creationId xmlns:a16="http://schemas.microsoft.com/office/drawing/2014/main" id="{1B46FE45-E9D8-4B45-8BBC-773D0399AE91}"/>
              </a:ext>
            </a:extLst>
          </p:cNvPr>
          <p:cNvSpPr>
            <a:spLocks xmlns:a="http://schemas.openxmlformats.org/drawingml/2006/main" noGrp="1"/>
          </p:cNvSpPr>
          <p:nvPr/>
        </p:nvSpPr>
        <p:spPr>
          <a:xfrm xmlns:a="http://schemas.openxmlformats.org/drawingml/2006/main">
            <a:off x="8591550" y="4953000"/>
            <a:ext cx="2781300" cy="19050"/>
          </a:xfrm>
          <a:prstGeom xmlns:a="http://schemas.openxmlformats.org/drawingml/2006/main" prst="rect">
            <a:avLst/>
          </a:prstGeom>
          <a:solidFill xmlns:a="http://schemas.openxmlformats.org/drawingml/2006/main">
            <a:srgbClr val="B8C1CC"/>
          </a:solidFill>
          <a:ln xmlns:a="http://schemas.openxmlformats.org/drawingml/2006/main" w="0">
            <a:noFill/>
            <a:prstDash val="solid"/>
          </a:ln>
        </p:spPr>
      </p:sp>
      <p:sp>
        <p:nvSpPr>
          <p:cNvPr id="11" name="ai-step-3">
            <a:extLst xmlns:a="http://schemas.openxmlformats.org/drawingml/2006/main">
              <a:ext uri="{FF2B5EF4-FFF2-40B4-BE49-F238E27FC236}">
                <a16:creationId xmlns:a16="http://schemas.microsoft.com/office/drawing/2014/main" id="{8ADE74D7-4500-47A3-8041-140038CBF5D4}"/>
              </a:ext>
            </a:extLst>
          </p:cNvPr>
          <p:cNvSpPr>
            <a:spLocks xmlns:a="http://schemas.openxmlformats.org/drawingml/2006/main" noGrp="1"/>
          </p:cNvSpPr>
          <p:nvPr/>
        </p:nvSpPr>
        <p:spPr>
          <a:xfrm xmlns:a="http://schemas.openxmlformats.org/drawingml/2006/main">
            <a:off x="8591550" y="52197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REFUSE</a:t>
            </a:r>
          </a:p>
        </p:txBody>
      </p:sp>
      <p:sp>
        <p:nvSpPr>
          <p:cNvPr id="12" name="ai-body-3">
            <a:extLst xmlns:a="http://schemas.openxmlformats.org/drawingml/2006/main">
              <a:ext uri="{FF2B5EF4-FFF2-40B4-BE49-F238E27FC236}">
                <a16:creationId xmlns:a16="http://schemas.microsoft.com/office/drawing/2014/main" id="{A62D6D3E-A505-43F4-B149-403D66D59EAC}"/>
              </a:ext>
            </a:extLst>
          </p:cNvPr>
          <p:cNvSpPr>
            <a:spLocks xmlns:a="http://schemas.openxmlformats.org/drawingml/2006/main" noGrp="1"/>
          </p:cNvSpPr>
          <p:nvPr/>
        </p:nvSpPr>
        <p:spPr>
          <a:xfrm xmlns:a="http://schemas.openxmlformats.org/drawingml/2006/main">
            <a:off x="8591550" y="5562600"/>
            <a:ext cx="27813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75" b="1">
                <a:solidFill>
                  <a:srgbClr val="0C1421"/>
                </a:solidFill>
                <a:latin typeface="Helvetica Neue"/>
                <a:ea typeface="Helvetica Neue"/>
                <a:cs typeface="Helvetica Neue"/>
              </a:defRPr>
            </a:pPr>
            <a:r>
              <a:rPr sz="1875" b="1">
                <a:solidFill>
                  <a:srgbClr val="0C1421"/>
                </a:solidFill>
                <a:latin typeface="Helvetica Neue"/>
                <a:ea typeface="Helvetica Neue"/>
                <a:cs typeface="Helvetica Neue"/>
              </a:rPr>
              <a:t>When confidence or access fails, it stops safely.</a:t>
            </a:r>
          </a:p>
        </p:txBody>
      </p:sp>
    </p:spTree>
    <p:extLst>
      <p:ext uri="{BB962C8B-B14F-4D97-AF65-F5344CB8AC3E}">
        <p14:creationId xmlns:p14="http://schemas.microsoft.com/office/powerpoint/2010/main" val="49587641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5">
            <a:extLst xmlns:a="http://schemas.openxmlformats.org/drawingml/2006/main">
              <a:ext uri="{FF2B5EF4-FFF2-40B4-BE49-F238E27FC236}">
                <a16:creationId xmlns:a16="http://schemas.microsoft.com/office/drawing/2014/main" id="{49CAEE67-D945-49F7-9CFA-A3181AAD035E}"/>
              </a:ext>
            </a:extLst>
          </p:cNvPr>
          <p:cNvSpPr>
            <a:spLocks xmlns:a="http://schemas.openxmlformats.org/drawingml/2006/main" noGrp="1"/>
          </p:cNvSpPr>
          <p:nvPr/>
        </p:nvSpPr>
        <p:spPr>
          <a:xfrm xmlns:a="http://schemas.openxmlformats.org/drawingml/2006/main">
            <a:off x="609600" y="4000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3750" b="1">
                <a:solidFill>
                  <a:srgbClr val="0C1421"/>
                </a:solidFill>
                <a:latin typeface="Helvetica Neue"/>
                <a:ea typeface="Helvetica Neue"/>
                <a:cs typeface="Helvetica Neue"/>
              </a:defRPr>
            </a:pPr>
            <a:r>
              <a:rPr sz="3750" b="1">
                <a:solidFill>
                  <a:srgbClr val="0C1421"/>
                </a:solidFill>
                <a:latin typeface="Helvetica Neue"/>
                <a:ea typeface="Helvetica Neue"/>
                <a:cs typeface="Helvetica Neue"/>
              </a:rPr>
              <a:t>An RFP becomes an approved proposal.</a:t>
            </a:r>
          </a:p>
        </p:txBody>
      </p:sp>
      <p:sp>
        <p:nvSpPr>
          <p:cNvPr id="2" name="subtitle-5">
            <a:extLst xmlns:a="http://schemas.openxmlformats.org/drawingml/2006/main">
              <a:ext uri="{FF2B5EF4-FFF2-40B4-BE49-F238E27FC236}">
                <a16:creationId xmlns:a16="http://schemas.microsoft.com/office/drawing/2014/main" id="{0361D377-69FE-49D7-8EC8-A961FB14E127}"/>
              </a:ext>
            </a:extLst>
          </p:cNvPr>
          <p:cNvSpPr>
            <a:spLocks xmlns:a="http://schemas.openxmlformats.org/drawingml/2006/main" noGrp="1"/>
          </p:cNvSpPr>
          <p:nvPr/>
        </p:nvSpPr>
        <p:spPr>
          <a:xfrm xmlns:a="http://schemas.openxmlformats.org/drawingml/2006/main">
            <a:off x="609600" y="10668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00">
                <a:solidFill>
                  <a:srgbClr val="5E6878"/>
                </a:solidFill>
                <a:latin typeface="Helvetica Neue"/>
                <a:ea typeface="Helvetica Neue"/>
                <a:cs typeface="Helvetica Neue"/>
              </a:defRPr>
            </a:pPr>
            <a:r>
              <a:rPr sz="1800">
                <a:solidFill>
                  <a:srgbClr val="5E6878"/>
                </a:solidFill>
                <a:latin typeface="Helvetica Neue"/>
                <a:ea typeface="Helvetica Neue"/>
                <a:cs typeface="Helvetica Neue"/>
              </a:rPr>
              <a:t>A multi-agent workflow coordinates drafting, evaluation, and human decisions.</a:t>
            </a:r>
          </a:p>
        </p:txBody>
      </p:sp>
      <p:sp>
        <p:nvSpPr>
          <p:cNvPr id="3" name="footer-5">
            <a:extLst xmlns:a="http://schemas.openxmlformats.org/drawingml/2006/main">
              <a:ext uri="{FF2B5EF4-FFF2-40B4-BE49-F238E27FC236}">
                <a16:creationId xmlns:a16="http://schemas.microsoft.com/office/drawing/2014/main" id="{A6C5836E-969C-4FB9-ACCC-DEE9B5038DB3}"/>
              </a:ext>
            </a:extLst>
          </p:cNvPr>
          <p:cNvSpPr>
            <a:spLocks xmlns:a="http://schemas.openxmlformats.org/drawingml/2006/main" noGrp="1"/>
          </p:cNvSpPr>
          <p:nvPr/>
        </p:nvSpPr>
        <p:spPr>
          <a:xfrm xmlns:a="http://schemas.openxmlformats.org/drawingml/2006/main">
            <a:off x="11277600" y="63627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a:solidFill>
                  <a:srgbClr val="5E6878"/>
                </a:solidFill>
                <a:latin typeface="Helvetica Neue"/>
                <a:ea typeface="Helvetica Neue"/>
                <a:cs typeface="Helvetica Neue"/>
              </a:defRPr>
            </a:pPr>
            <a:r>
              <a:rPr sz="1050">
                <a:solidFill>
                  <a:srgbClr val="5E6878"/>
                </a:solidFill>
                <a:latin typeface="Helvetica Neue"/>
                <a:ea typeface="Helvetica Neue"/>
                <a:cs typeface="Helvetica Neue"/>
              </a:rPr>
              <a:t>05</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69da05e0d0ba491c"/>
          <a:stretch xmlns:a="http://schemas.openxmlformats.org/drawingml/2006/main"/>
        </p:blipFill>
        <p:spPr>
          <a:xfrm xmlns:a="http://schemas.openxmlformats.org/drawingml/2006/main">
            <a:off x="609600" y="1716881"/>
            <a:ext cx="7239000" cy="4071938"/>
          </a:xfrm>
          <a:prstGeom xmlns:a="http://schemas.openxmlformats.org/drawingml/2006/main" prst="roundRect">
            <a:avLst>
              <a:gd name="adj" fmla="val 1869"/>
            </a:avLst>
          </a:prstGeom>
        </p:spPr>
      </p:pic>
      <p:sp>
        <p:nvSpPr>
          <p:cNvPr id="5" name="rfp-number-0">
            <a:extLst xmlns:a="http://schemas.openxmlformats.org/drawingml/2006/main">
              <a:ext uri="{FF2B5EF4-FFF2-40B4-BE49-F238E27FC236}">
                <a16:creationId xmlns:a16="http://schemas.microsoft.com/office/drawing/2014/main" id="{78EF5FBC-7A0C-495E-94ED-8D431AD20765}"/>
              </a:ext>
            </a:extLst>
          </p:cNvPr>
          <p:cNvSpPr>
            <a:spLocks xmlns:a="http://schemas.openxmlformats.org/drawingml/2006/main" noGrp="1"/>
          </p:cNvSpPr>
          <p:nvPr/>
        </p:nvSpPr>
        <p:spPr>
          <a:xfrm xmlns:a="http://schemas.openxmlformats.org/drawingml/2006/main">
            <a:off x="8343900" y="1790700"/>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01</a:t>
            </a:r>
          </a:p>
        </p:txBody>
      </p:sp>
      <p:sp>
        <p:nvSpPr>
          <p:cNvPr id="6" name="rfp-title-0">
            <a:extLst xmlns:a="http://schemas.openxmlformats.org/drawingml/2006/main">
              <a:ext uri="{FF2B5EF4-FFF2-40B4-BE49-F238E27FC236}">
                <a16:creationId xmlns:a16="http://schemas.microsoft.com/office/drawing/2014/main" id="{58E33E3D-6A2C-4605-B954-CBBFD3AA37E2}"/>
              </a:ext>
            </a:extLst>
          </p:cNvPr>
          <p:cNvSpPr>
            <a:spLocks xmlns:a="http://schemas.openxmlformats.org/drawingml/2006/main" noGrp="1"/>
          </p:cNvSpPr>
          <p:nvPr/>
        </p:nvSpPr>
        <p:spPr>
          <a:xfrm xmlns:a="http://schemas.openxmlformats.org/drawingml/2006/main">
            <a:off x="8953500" y="1771650"/>
            <a:ext cx="266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00" b="1">
                <a:solidFill>
                  <a:srgbClr val="0C1421"/>
                </a:solidFill>
                <a:latin typeface="Helvetica Neue"/>
                <a:ea typeface="Helvetica Neue"/>
                <a:cs typeface="Helvetica Neue"/>
              </a:defRPr>
            </a:pPr>
            <a:r>
              <a:rPr sz="1800" b="1">
                <a:solidFill>
                  <a:srgbClr val="0C1421"/>
                </a:solidFill>
                <a:latin typeface="Helvetica Neue"/>
                <a:ea typeface="Helvetica Neue"/>
                <a:cs typeface="Helvetica Neue"/>
              </a:rPr>
              <a:t>Intake + route</a:t>
            </a:r>
          </a:p>
        </p:txBody>
      </p:sp>
      <p:sp>
        <p:nvSpPr>
          <p:cNvPr id="7" name="rfp-body-0">
            <a:extLst xmlns:a="http://schemas.openxmlformats.org/drawingml/2006/main">
              <a:ext uri="{FF2B5EF4-FFF2-40B4-BE49-F238E27FC236}">
                <a16:creationId xmlns:a16="http://schemas.microsoft.com/office/drawing/2014/main" id="{D51DB3C1-A660-4312-BFD1-EC6DD75ED38E}"/>
              </a:ext>
            </a:extLst>
          </p:cNvPr>
          <p:cNvSpPr>
            <a:spLocks xmlns:a="http://schemas.openxmlformats.org/drawingml/2006/main" noGrp="1"/>
          </p:cNvSpPr>
          <p:nvPr/>
        </p:nvSpPr>
        <p:spPr>
          <a:xfrm xmlns:a="http://schemas.openxmlformats.org/drawingml/2006/main">
            <a:off x="8953500" y="2266950"/>
            <a:ext cx="2667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75">
                <a:solidFill>
                  <a:srgbClr val="5E6878"/>
                </a:solidFill>
                <a:latin typeface="Helvetica Neue"/>
                <a:ea typeface="Helvetica Neue"/>
                <a:cs typeface="Helvetica Neue"/>
              </a:defRPr>
            </a:pPr>
            <a:r>
              <a:rPr sz="1575">
                <a:solidFill>
                  <a:srgbClr val="5E6878"/>
                </a:solidFill>
                <a:latin typeface="Helvetica Neue"/>
                <a:ea typeface="Helvetica Neue"/>
                <a:cs typeface="Helvetica Neue"/>
              </a:rPr>
              <a:t>Extract the PDF, validate it, and assign the right departments.</a:t>
            </a:r>
          </a:p>
        </p:txBody>
      </p:sp>
      <p:sp>
        <p:nvSpPr>
          <p:cNvPr id="8" name="rule-876-328">
            <a:extLst xmlns:a="http://schemas.openxmlformats.org/drawingml/2006/main">
              <a:ext uri="{FF2B5EF4-FFF2-40B4-BE49-F238E27FC236}">
                <a16:creationId xmlns:a16="http://schemas.microsoft.com/office/drawing/2014/main" id="{B76F4675-CCBB-4EF7-9A23-E7AA549ECCE1}"/>
              </a:ext>
            </a:extLst>
          </p:cNvPr>
          <p:cNvSpPr>
            <a:spLocks xmlns:a="http://schemas.openxmlformats.org/drawingml/2006/main" noGrp="1"/>
          </p:cNvSpPr>
          <p:nvPr/>
        </p:nvSpPr>
        <p:spPr>
          <a:xfrm xmlns:a="http://schemas.openxmlformats.org/drawingml/2006/main">
            <a:off x="8343900" y="3124200"/>
            <a:ext cx="3181350" cy="19050"/>
          </a:xfrm>
          <a:prstGeom xmlns:a="http://schemas.openxmlformats.org/drawingml/2006/main" prst="rect">
            <a:avLst/>
          </a:prstGeom>
          <a:solidFill xmlns:a="http://schemas.openxmlformats.org/drawingml/2006/main">
            <a:srgbClr val="B8C1CC"/>
          </a:solidFill>
          <a:ln xmlns:a="http://schemas.openxmlformats.org/drawingml/2006/main" w="0">
            <a:noFill/>
            <a:prstDash val="solid"/>
          </a:ln>
        </p:spPr>
      </p:sp>
      <p:sp>
        <p:nvSpPr>
          <p:cNvPr id="9" name="rfp-number-1">
            <a:extLst xmlns:a="http://schemas.openxmlformats.org/drawingml/2006/main">
              <a:ext uri="{FF2B5EF4-FFF2-40B4-BE49-F238E27FC236}">
                <a16:creationId xmlns:a16="http://schemas.microsoft.com/office/drawing/2014/main" id="{AF5BCEA4-570E-4531-8643-C2ABBC656013}"/>
              </a:ext>
            </a:extLst>
          </p:cNvPr>
          <p:cNvSpPr>
            <a:spLocks xmlns:a="http://schemas.openxmlformats.org/drawingml/2006/main" noGrp="1"/>
          </p:cNvSpPr>
          <p:nvPr/>
        </p:nvSpPr>
        <p:spPr>
          <a:xfrm xmlns:a="http://schemas.openxmlformats.org/drawingml/2006/main">
            <a:off x="8343900" y="3219450"/>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02</a:t>
            </a:r>
          </a:p>
        </p:txBody>
      </p:sp>
      <p:sp>
        <p:nvSpPr>
          <p:cNvPr id="10" name="rfp-title-1">
            <a:extLst xmlns:a="http://schemas.openxmlformats.org/drawingml/2006/main">
              <a:ext uri="{FF2B5EF4-FFF2-40B4-BE49-F238E27FC236}">
                <a16:creationId xmlns:a16="http://schemas.microsoft.com/office/drawing/2014/main" id="{332EBF10-17DF-453F-BD02-CD4F7DB2F350}"/>
              </a:ext>
            </a:extLst>
          </p:cNvPr>
          <p:cNvSpPr>
            <a:spLocks xmlns:a="http://schemas.openxmlformats.org/drawingml/2006/main" noGrp="1"/>
          </p:cNvSpPr>
          <p:nvPr/>
        </p:nvSpPr>
        <p:spPr>
          <a:xfrm xmlns:a="http://schemas.openxmlformats.org/drawingml/2006/main">
            <a:off x="8953500" y="3200400"/>
            <a:ext cx="266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00" b="1">
                <a:solidFill>
                  <a:srgbClr val="0C1421"/>
                </a:solidFill>
                <a:latin typeface="Helvetica Neue"/>
                <a:ea typeface="Helvetica Neue"/>
                <a:cs typeface="Helvetica Neue"/>
              </a:defRPr>
            </a:pPr>
            <a:r>
              <a:rPr sz="1800" b="1">
                <a:solidFill>
                  <a:srgbClr val="0C1421"/>
                </a:solidFill>
                <a:latin typeface="Helvetica Neue"/>
                <a:ea typeface="Helvetica Neue"/>
                <a:cs typeface="Helvetica Neue"/>
              </a:rPr>
              <a:t>Draft + evaluate</a:t>
            </a:r>
          </a:p>
        </p:txBody>
      </p:sp>
      <p:sp>
        <p:nvSpPr>
          <p:cNvPr id="11" name="rfp-body-1">
            <a:extLst xmlns:a="http://schemas.openxmlformats.org/drawingml/2006/main">
              <a:ext uri="{FF2B5EF4-FFF2-40B4-BE49-F238E27FC236}">
                <a16:creationId xmlns:a16="http://schemas.microsoft.com/office/drawing/2014/main" id="{0CB185FD-0A06-4411-BB4B-F05FB93E6A06}"/>
              </a:ext>
            </a:extLst>
          </p:cNvPr>
          <p:cNvSpPr>
            <a:spLocks xmlns:a="http://schemas.openxmlformats.org/drawingml/2006/main" noGrp="1"/>
          </p:cNvSpPr>
          <p:nvPr/>
        </p:nvSpPr>
        <p:spPr>
          <a:xfrm xmlns:a="http://schemas.openxmlformats.org/drawingml/2006/main">
            <a:off x="8953500" y="3695700"/>
            <a:ext cx="2667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75">
                <a:solidFill>
                  <a:srgbClr val="5E6878"/>
                </a:solidFill>
                <a:latin typeface="Helvetica Neue"/>
                <a:ea typeface="Helvetica Neue"/>
                <a:cs typeface="Helvetica Neue"/>
              </a:defRPr>
            </a:pPr>
            <a:r>
              <a:rPr sz="1575">
                <a:solidFill>
                  <a:srgbClr val="5E6878"/>
                </a:solidFill>
                <a:latin typeface="Helvetica Neue"/>
                <a:ea typeface="Helvetica Neue"/>
                <a:cs typeface="Helvetica Neue"/>
              </a:rPr>
              <a:t>Generate grounded sections and score them against deterministic rules.</a:t>
            </a:r>
          </a:p>
        </p:txBody>
      </p:sp>
      <p:sp>
        <p:nvSpPr>
          <p:cNvPr id="12" name="rule-876-478">
            <a:extLst xmlns:a="http://schemas.openxmlformats.org/drawingml/2006/main">
              <a:ext uri="{FF2B5EF4-FFF2-40B4-BE49-F238E27FC236}">
                <a16:creationId xmlns:a16="http://schemas.microsoft.com/office/drawing/2014/main" id="{F6568C19-0EC3-4CA6-AE9C-36F50F5CCF05}"/>
              </a:ext>
            </a:extLst>
          </p:cNvPr>
          <p:cNvSpPr>
            <a:spLocks xmlns:a="http://schemas.openxmlformats.org/drawingml/2006/main" noGrp="1"/>
          </p:cNvSpPr>
          <p:nvPr/>
        </p:nvSpPr>
        <p:spPr>
          <a:xfrm xmlns:a="http://schemas.openxmlformats.org/drawingml/2006/main">
            <a:off x="8343900" y="4552950"/>
            <a:ext cx="3181350" cy="19050"/>
          </a:xfrm>
          <a:prstGeom xmlns:a="http://schemas.openxmlformats.org/drawingml/2006/main" prst="rect">
            <a:avLst/>
          </a:prstGeom>
          <a:solidFill xmlns:a="http://schemas.openxmlformats.org/drawingml/2006/main">
            <a:srgbClr val="B8C1CC"/>
          </a:solidFill>
          <a:ln xmlns:a="http://schemas.openxmlformats.org/drawingml/2006/main" w="0">
            <a:noFill/>
            <a:prstDash val="solid"/>
          </a:ln>
        </p:spPr>
      </p:sp>
      <p:sp>
        <p:nvSpPr>
          <p:cNvPr id="13" name="rfp-number-2">
            <a:extLst xmlns:a="http://schemas.openxmlformats.org/drawingml/2006/main">
              <a:ext uri="{FF2B5EF4-FFF2-40B4-BE49-F238E27FC236}">
                <a16:creationId xmlns:a16="http://schemas.microsoft.com/office/drawing/2014/main" id="{22B7DCE1-35D9-4FC4-A8C0-C2F79C9A7FE8}"/>
              </a:ext>
            </a:extLst>
          </p:cNvPr>
          <p:cNvSpPr>
            <a:spLocks xmlns:a="http://schemas.openxmlformats.org/drawingml/2006/main" noGrp="1"/>
          </p:cNvSpPr>
          <p:nvPr/>
        </p:nvSpPr>
        <p:spPr>
          <a:xfrm xmlns:a="http://schemas.openxmlformats.org/drawingml/2006/main">
            <a:off x="8343900" y="4648200"/>
            <a:ext cx="49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03</a:t>
            </a:r>
          </a:p>
        </p:txBody>
      </p:sp>
      <p:sp>
        <p:nvSpPr>
          <p:cNvPr id="14" name="rfp-title-2">
            <a:extLst xmlns:a="http://schemas.openxmlformats.org/drawingml/2006/main">
              <a:ext uri="{FF2B5EF4-FFF2-40B4-BE49-F238E27FC236}">
                <a16:creationId xmlns:a16="http://schemas.microsoft.com/office/drawing/2014/main" id="{CD38F515-5EA6-4FDA-8A47-821258230985}"/>
              </a:ext>
            </a:extLst>
          </p:cNvPr>
          <p:cNvSpPr>
            <a:spLocks xmlns:a="http://schemas.openxmlformats.org/drawingml/2006/main" noGrp="1"/>
          </p:cNvSpPr>
          <p:nvPr/>
        </p:nvSpPr>
        <p:spPr>
          <a:xfrm xmlns:a="http://schemas.openxmlformats.org/drawingml/2006/main">
            <a:off x="8953500" y="4629150"/>
            <a:ext cx="266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00" b="1">
                <a:solidFill>
                  <a:srgbClr val="0C1421"/>
                </a:solidFill>
                <a:latin typeface="Helvetica Neue"/>
                <a:ea typeface="Helvetica Neue"/>
                <a:cs typeface="Helvetica Neue"/>
              </a:defRPr>
            </a:pPr>
            <a:r>
              <a:rPr sz="1800" b="1">
                <a:solidFill>
                  <a:srgbClr val="0C1421"/>
                </a:solidFill>
                <a:latin typeface="Helvetica Neue"/>
                <a:ea typeface="Helvetica Neue"/>
                <a:cs typeface="Helvetica Neue"/>
              </a:rPr>
              <a:t>Approve + assemble</a:t>
            </a:r>
          </a:p>
        </p:txBody>
      </p:sp>
      <p:sp>
        <p:nvSpPr>
          <p:cNvPr id="15" name="rfp-body-2">
            <a:extLst xmlns:a="http://schemas.openxmlformats.org/drawingml/2006/main">
              <a:ext uri="{FF2B5EF4-FFF2-40B4-BE49-F238E27FC236}">
                <a16:creationId xmlns:a16="http://schemas.microsoft.com/office/drawing/2014/main" id="{49AEAD06-0F9C-4F51-8F4D-822AE6949608}"/>
              </a:ext>
            </a:extLst>
          </p:cNvPr>
          <p:cNvSpPr>
            <a:spLocks xmlns:a="http://schemas.openxmlformats.org/drawingml/2006/main" noGrp="1"/>
          </p:cNvSpPr>
          <p:nvPr/>
        </p:nvSpPr>
        <p:spPr>
          <a:xfrm xmlns:a="http://schemas.openxmlformats.org/drawingml/2006/main">
            <a:off x="8953500" y="5124450"/>
            <a:ext cx="2667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75">
                <a:solidFill>
                  <a:srgbClr val="5E6878"/>
                </a:solidFill>
                <a:latin typeface="Helvetica Neue"/>
                <a:ea typeface="Helvetica Neue"/>
                <a:cs typeface="Helvetica Neue"/>
              </a:defRPr>
            </a:pPr>
            <a:r>
              <a:rPr sz="1575">
                <a:solidFill>
                  <a:srgbClr val="5E6878"/>
                </a:solidFill>
                <a:latin typeface="Helvetica Neue"/>
                <a:ea typeface="Helvetica Neue"/>
                <a:cs typeface="Helvetica Neue"/>
              </a:rPr>
              <a:t>Pause each branch for a human, then publish the final proposal.</a:t>
            </a:r>
          </a:p>
        </p:txBody>
      </p:sp>
    </p:spTree>
    <p:extLst>
      <p:ext uri="{BB962C8B-B14F-4D97-AF65-F5344CB8AC3E}">
        <p14:creationId xmlns:p14="http://schemas.microsoft.com/office/powerpoint/2010/main" val="56570511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itle-6">
            <a:extLst xmlns:a="http://schemas.openxmlformats.org/drawingml/2006/main">
              <a:ext uri="{FF2B5EF4-FFF2-40B4-BE49-F238E27FC236}">
                <a16:creationId xmlns:a16="http://schemas.microsoft.com/office/drawing/2014/main" id="{2D477187-0AEB-4EC8-A4F5-3D805489DAD8}"/>
              </a:ext>
            </a:extLst>
          </p:cNvPr>
          <p:cNvSpPr>
            <a:spLocks xmlns:a="http://schemas.openxmlformats.org/drawingml/2006/main" noGrp="1"/>
          </p:cNvSpPr>
          <p:nvPr/>
        </p:nvSpPr>
        <p:spPr>
          <a:xfrm xmlns:a="http://schemas.openxmlformats.org/drawingml/2006/main">
            <a:off x="609600" y="4000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3750" b="1">
                <a:solidFill>
                  <a:srgbClr val="0C1421"/>
                </a:solidFill>
                <a:latin typeface="Helvetica Neue"/>
                <a:ea typeface="Helvetica Neue"/>
                <a:cs typeface="Helvetica Neue"/>
              </a:defRPr>
            </a:pPr>
            <a:r>
              <a:rPr sz="3750" b="1">
                <a:solidFill>
                  <a:srgbClr val="0C1421"/>
                </a:solidFill>
                <a:latin typeface="Helvetica Neue"/>
                <a:ea typeface="Helvetica Neue"/>
                <a:cs typeface="Helvetica Neue"/>
              </a:rPr>
              <a:t>Guarded. Grounded. Observable.</a:t>
            </a:r>
          </a:p>
        </p:txBody>
      </p:sp>
      <p:sp>
        <p:nvSpPr>
          <p:cNvPr id="2" name="subtitle-6">
            <a:extLst xmlns:a="http://schemas.openxmlformats.org/drawingml/2006/main">
              <a:ext uri="{FF2B5EF4-FFF2-40B4-BE49-F238E27FC236}">
                <a16:creationId xmlns:a16="http://schemas.microsoft.com/office/drawing/2014/main" id="{0C38A62A-67B8-4785-931E-5D0CC9ACE2C3}"/>
              </a:ext>
            </a:extLst>
          </p:cNvPr>
          <p:cNvSpPr>
            <a:spLocks xmlns:a="http://schemas.openxmlformats.org/drawingml/2006/main" noGrp="1"/>
          </p:cNvSpPr>
          <p:nvPr/>
        </p:nvSpPr>
        <p:spPr>
          <a:xfrm xmlns:a="http://schemas.openxmlformats.org/drawingml/2006/main">
            <a:off x="609600" y="106680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00">
                <a:solidFill>
                  <a:srgbClr val="5E6878"/>
                </a:solidFill>
                <a:latin typeface="Helvetica Neue"/>
                <a:ea typeface="Helvetica Neue"/>
                <a:cs typeface="Helvetica Neue"/>
              </a:defRPr>
            </a:pPr>
            <a:r>
              <a:rPr sz="1800">
                <a:solidFill>
                  <a:srgbClr val="5E6878"/>
                </a:solidFill>
                <a:latin typeface="Helvetica Neue"/>
                <a:ea typeface="Helvetica Neue"/>
                <a:cs typeface="Helvetica Neue"/>
              </a:rPr>
              <a:t>The hardest problem was making agent behavior trustworthy under real operational constraints.</a:t>
            </a:r>
          </a:p>
        </p:txBody>
      </p:sp>
      <p:sp>
        <p:nvSpPr>
          <p:cNvPr id="3" name="footer-6">
            <a:extLst xmlns:a="http://schemas.openxmlformats.org/drawingml/2006/main">
              <a:ext uri="{FF2B5EF4-FFF2-40B4-BE49-F238E27FC236}">
                <a16:creationId xmlns:a16="http://schemas.microsoft.com/office/drawing/2014/main" id="{A755018F-AAB3-42ED-B2F2-EF38897596D5}"/>
              </a:ext>
            </a:extLst>
          </p:cNvPr>
          <p:cNvSpPr>
            <a:spLocks xmlns:a="http://schemas.openxmlformats.org/drawingml/2006/main" noGrp="1"/>
          </p:cNvSpPr>
          <p:nvPr/>
        </p:nvSpPr>
        <p:spPr>
          <a:xfrm xmlns:a="http://schemas.openxmlformats.org/drawingml/2006/main">
            <a:off x="11277600" y="63627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050">
                <a:solidFill>
                  <a:srgbClr val="5E6878"/>
                </a:solidFill>
                <a:latin typeface="Helvetica Neue"/>
                <a:ea typeface="Helvetica Neue"/>
                <a:cs typeface="Helvetica Neue"/>
              </a:defRPr>
            </a:pPr>
            <a:r>
              <a:rPr sz="1050">
                <a:solidFill>
                  <a:srgbClr val="5E6878"/>
                </a:solidFill>
                <a:latin typeface="Helvetica Neue"/>
                <a:ea typeface="Helvetica Neue"/>
                <a:cs typeface="Helvetica Neue"/>
              </a:rPr>
              <a:t>06</a:t>
            </a:r>
          </a:p>
        </p:txBody>
      </p:sp>
      <p:sp>
        <p:nvSpPr>
          <p:cNvPr id="4" name="engineering-lead">
            <a:extLst xmlns:a="http://schemas.openxmlformats.org/drawingml/2006/main">
              <a:ext uri="{FF2B5EF4-FFF2-40B4-BE49-F238E27FC236}">
                <a16:creationId xmlns:a16="http://schemas.microsoft.com/office/drawing/2014/main" id="{0D112566-AE8A-40C5-B0E7-5CEF05D35424}"/>
              </a:ext>
            </a:extLst>
          </p:cNvPr>
          <p:cNvSpPr>
            <a:spLocks xmlns:a="http://schemas.openxmlformats.org/drawingml/2006/main" noGrp="1"/>
          </p:cNvSpPr>
          <p:nvPr/>
        </p:nvSpPr>
        <p:spPr>
          <a:xfrm xmlns:a="http://schemas.openxmlformats.org/drawingml/2006/main">
            <a:off x="609600" y="1828800"/>
            <a:ext cx="3143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325" b="1">
                <a:solidFill>
                  <a:srgbClr val="0C1421"/>
                </a:solidFill>
                <a:latin typeface="Helvetica Neue"/>
                <a:ea typeface="Helvetica Neue"/>
                <a:cs typeface="Helvetica Neue"/>
              </a:defRPr>
            </a:pPr>
            <a:r>
              <a:rPr sz="2325" b="1">
                <a:solidFill>
                  <a:srgbClr val="0C1421"/>
                </a:solidFill>
                <a:latin typeface="Helvetica Neue"/>
                <a:ea typeface="Helvetica Neue"/>
                <a:cs typeface="Helvetica Neue"/>
              </a:rPr>
              <a:t>Three decisions made the system production-minded:</a:t>
            </a:r>
          </a:p>
        </p:txBody>
      </p:sp>
      <p:sp>
        <p:nvSpPr>
          <p:cNvPr id="5" name="decision-title-0">
            <a:extLst xmlns:a="http://schemas.openxmlformats.org/drawingml/2006/main">
              <a:ext uri="{FF2B5EF4-FFF2-40B4-BE49-F238E27FC236}">
                <a16:creationId xmlns:a16="http://schemas.microsoft.com/office/drawing/2014/main" id="{F68937B1-EC49-41A4-AC9B-8908D6DFFD26}"/>
              </a:ext>
            </a:extLst>
          </p:cNvPr>
          <p:cNvSpPr>
            <a:spLocks xmlns:a="http://schemas.openxmlformats.org/drawingml/2006/main" noGrp="1"/>
          </p:cNvSpPr>
          <p:nvPr/>
        </p:nvSpPr>
        <p:spPr>
          <a:xfrm xmlns:a="http://schemas.openxmlformats.org/drawingml/2006/main">
            <a:off x="609600" y="3028950"/>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00" b="1">
                <a:solidFill>
                  <a:srgbClr val="3D8DFF"/>
                </a:solidFill>
                <a:latin typeface="Helvetica Neue"/>
                <a:ea typeface="Helvetica Neue"/>
                <a:cs typeface="Helvetica Neue"/>
              </a:defRPr>
            </a:pPr>
            <a:r>
              <a:rPr sz="1800" b="1">
                <a:solidFill>
                  <a:srgbClr val="3D8DFF"/>
                </a:solidFill>
                <a:latin typeface="Helvetica Neue"/>
                <a:ea typeface="Helvetica Neue"/>
                <a:cs typeface="Helvetica Neue"/>
              </a:rPr>
              <a:t>Grounded</a:t>
            </a:r>
          </a:p>
        </p:txBody>
      </p:sp>
      <p:sp>
        <p:nvSpPr>
          <p:cNvPr id="6" name="decision-body-0">
            <a:extLst xmlns:a="http://schemas.openxmlformats.org/drawingml/2006/main">
              <a:ext uri="{FF2B5EF4-FFF2-40B4-BE49-F238E27FC236}">
                <a16:creationId xmlns:a16="http://schemas.microsoft.com/office/drawing/2014/main" id="{3428FD67-8B07-4DC0-81C7-C9600F55A209}"/>
              </a:ext>
            </a:extLst>
          </p:cNvPr>
          <p:cNvSpPr>
            <a:spLocks xmlns:a="http://schemas.openxmlformats.org/drawingml/2006/main" noGrp="1"/>
          </p:cNvSpPr>
          <p:nvPr/>
        </p:nvSpPr>
        <p:spPr>
          <a:xfrm xmlns:a="http://schemas.openxmlformats.org/drawingml/2006/main">
            <a:off x="1981200" y="3028950"/>
            <a:ext cx="21145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75">
                <a:solidFill>
                  <a:srgbClr val="5E6878"/>
                </a:solidFill>
                <a:latin typeface="Helvetica Neue"/>
                <a:ea typeface="Helvetica Neue"/>
                <a:cs typeface="Helvetica Neue"/>
              </a:defRPr>
            </a:pPr>
            <a:r>
              <a:rPr sz="1575">
                <a:solidFill>
                  <a:srgbClr val="5E6878"/>
                </a:solidFill>
                <a:latin typeface="Helvetica Neue"/>
                <a:ea typeface="Helvetica Neue"/>
                <a:cs typeface="Helvetica Neue"/>
              </a:rPr>
              <a:t>RAG and live tools replace guessing.</a:t>
            </a:r>
          </a:p>
        </p:txBody>
      </p:sp>
      <p:sp>
        <p:nvSpPr>
          <p:cNvPr id="7" name="decision-title-1">
            <a:extLst xmlns:a="http://schemas.openxmlformats.org/drawingml/2006/main">
              <a:ext uri="{FF2B5EF4-FFF2-40B4-BE49-F238E27FC236}">
                <a16:creationId xmlns:a16="http://schemas.microsoft.com/office/drawing/2014/main" id="{AB4588DE-DB63-4F04-983B-5CCE8216158A}"/>
              </a:ext>
            </a:extLst>
          </p:cNvPr>
          <p:cNvSpPr>
            <a:spLocks xmlns:a="http://schemas.openxmlformats.org/drawingml/2006/main" noGrp="1"/>
          </p:cNvSpPr>
          <p:nvPr/>
        </p:nvSpPr>
        <p:spPr>
          <a:xfrm xmlns:a="http://schemas.openxmlformats.org/drawingml/2006/main">
            <a:off x="609600" y="4019550"/>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00" b="1">
                <a:solidFill>
                  <a:srgbClr val="D98B65"/>
                </a:solidFill>
                <a:latin typeface="Helvetica Neue"/>
                <a:ea typeface="Helvetica Neue"/>
                <a:cs typeface="Helvetica Neue"/>
              </a:defRPr>
            </a:pPr>
            <a:r>
              <a:rPr sz="1800" b="1">
                <a:solidFill>
                  <a:srgbClr val="D98B65"/>
                </a:solidFill>
                <a:latin typeface="Helvetica Neue"/>
                <a:ea typeface="Helvetica Neue"/>
                <a:cs typeface="Helvetica Neue"/>
              </a:rPr>
              <a:t>Bounded</a:t>
            </a:r>
          </a:p>
        </p:txBody>
      </p:sp>
      <p:sp>
        <p:nvSpPr>
          <p:cNvPr id="8" name="decision-body-1">
            <a:extLst xmlns:a="http://schemas.openxmlformats.org/drawingml/2006/main">
              <a:ext uri="{FF2B5EF4-FFF2-40B4-BE49-F238E27FC236}">
                <a16:creationId xmlns:a16="http://schemas.microsoft.com/office/drawing/2014/main" id="{E5C2D991-FDCD-4133-B8D4-B323711C2EE3}"/>
              </a:ext>
            </a:extLst>
          </p:cNvPr>
          <p:cNvSpPr>
            <a:spLocks xmlns:a="http://schemas.openxmlformats.org/drawingml/2006/main" noGrp="1"/>
          </p:cNvSpPr>
          <p:nvPr/>
        </p:nvSpPr>
        <p:spPr>
          <a:xfrm xmlns:a="http://schemas.openxmlformats.org/drawingml/2006/main">
            <a:off x="1981200" y="4019550"/>
            <a:ext cx="21145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75">
                <a:solidFill>
                  <a:srgbClr val="5E6878"/>
                </a:solidFill>
                <a:latin typeface="Helvetica Neue"/>
                <a:ea typeface="Helvetica Neue"/>
                <a:cs typeface="Helvetica Neue"/>
              </a:defRPr>
            </a:pPr>
            <a:r>
              <a:rPr sz="1575">
                <a:solidFill>
                  <a:srgbClr val="5E6878"/>
                </a:solidFill>
                <a:latin typeface="Helvetica Neue"/>
                <a:ea typeface="Helvetica Neue"/>
                <a:cs typeface="Helvetica Neue"/>
              </a:rPr>
              <a:t>Guardrails and human interrupts stop unsafe loops.</a:t>
            </a:r>
          </a:p>
        </p:txBody>
      </p:sp>
      <p:sp>
        <p:nvSpPr>
          <p:cNvPr id="9" name="decision-title-2">
            <a:extLst xmlns:a="http://schemas.openxmlformats.org/drawingml/2006/main">
              <a:ext uri="{FF2B5EF4-FFF2-40B4-BE49-F238E27FC236}">
                <a16:creationId xmlns:a16="http://schemas.microsoft.com/office/drawing/2014/main" id="{A4C7422D-4A16-45B4-993B-A3D688F4D2F0}"/>
              </a:ext>
            </a:extLst>
          </p:cNvPr>
          <p:cNvSpPr>
            <a:spLocks xmlns:a="http://schemas.openxmlformats.org/drawingml/2006/main" noGrp="1"/>
          </p:cNvSpPr>
          <p:nvPr/>
        </p:nvSpPr>
        <p:spPr>
          <a:xfrm xmlns:a="http://schemas.openxmlformats.org/drawingml/2006/main">
            <a:off x="609600" y="5010150"/>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00" b="1">
                <a:solidFill>
                  <a:srgbClr val="3D8DFF"/>
                </a:solidFill>
                <a:latin typeface="Helvetica Neue"/>
                <a:ea typeface="Helvetica Neue"/>
                <a:cs typeface="Helvetica Neue"/>
              </a:defRPr>
            </a:pPr>
            <a:r>
              <a:rPr sz="1800" b="1">
                <a:solidFill>
                  <a:srgbClr val="3D8DFF"/>
                </a:solidFill>
                <a:latin typeface="Helvetica Neue"/>
                <a:ea typeface="Helvetica Neue"/>
                <a:cs typeface="Helvetica Neue"/>
              </a:rPr>
              <a:t>Traceable</a:t>
            </a:r>
          </a:p>
        </p:txBody>
      </p:sp>
      <p:sp>
        <p:nvSpPr>
          <p:cNvPr id="10" name="decision-body-2">
            <a:extLst xmlns:a="http://schemas.openxmlformats.org/drawingml/2006/main">
              <a:ext uri="{FF2B5EF4-FFF2-40B4-BE49-F238E27FC236}">
                <a16:creationId xmlns:a16="http://schemas.microsoft.com/office/drawing/2014/main" id="{F23AEA64-A0F1-4353-96A3-6316A281FBC3}"/>
              </a:ext>
            </a:extLst>
          </p:cNvPr>
          <p:cNvSpPr>
            <a:spLocks xmlns:a="http://schemas.openxmlformats.org/drawingml/2006/main" noGrp="1"/>
          </p:cNvSpPr>
          <p:nvPr/>
        </p:nvSpPr>
        <p:spPr>
          <a:xfrm xmlns:a="http://schemas.openxmlformats.org/drawingml/2006/main">
            <a:off x="1981200" y="5010150"/>
            <a:ext cx="21145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75">
                <a:solidFill>
                  <a:srgbClr val="5E6878"/>
                </a:solidFill>
                <a:latin typeface="Helvetica Neue"/>
                <a:ea typeface="Helvetica Neue"/>
                <a:cs typeface="Helvetica Neue"/>
              </a:defRPr>
            </a:pPr>
            <a:r>
              <a:rPr sz="1575">
                <a:solidFill>
                  <a:srgbClr val="5E6878"/>
                </a:solidFill>
                <a:latin typeface="Helvetica Neue"/>
                <a:ea typeface="Helvetica Neue"/>
                <a:cs typeface="Helvetica Neue"/>
              </a:rPr>
              <a:t>Paths record latency, tokens, cost, tools, and outcomes.</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43bf578c43984632"/>
          <a:stretch xmlns:a="http://schemas.openxmlformats.org/drawingml/2006/main"/>
        </p:blipFill>
        <p:spPr>
          <a:xfrm xmlns:a="http://schemas.openxmlformats.org/drawingml/2006/main">
            <a:off x="4365625" y="1752600"/>
            <a:ext cx="7213600" cy="4057650"/>
          </a:xfrm>
          <a:prstGeom xmlns:a="http://schemas.openxmlformats.org/drawingml/2006/main" prst="roundRect">
            <a:avLst>
              <a:gd name="adj" fmla="val 1878"/>
            </a:avLst>
          </a:prstGeom>
        </p:spPr>
      </p:pic>
    </p:spTree>
    <p:extLst>
      <p:ext uri="{BB962C8B-B14F-4D97-AF65-F5344CB8AC3E}">
        <p14:creationId xmlns:p14="http://schemas.microsoft.com/office/powerpoint/2010/main" val="1972826770"/>
      </p:ext>
    </p:extLst>
  </p:cSld>
</p:sld>
</file>

<file path=ppt/slides/slide7.xml><?xml version="1.0" encoding="utf-8"?>
<p:sld xmlns:p="http://schemas.openxmlformats.org/presentationml/2006/main">
  <p:cSld>
    <p:bg>
      <p:bgPr>
        <a:solidFill xmlns:a="http://schemas.openxmlformats.org/drawingml/2006/main">
          <a:srgbClr val="111A27"/>
        </a:solidFill>
      </p:bgPr>
    </p:bg>
    <p:spTree>
      <p:nvGrpSpPr>
        <p:cNvPr id="1" name=""/>
        <p:cNvGrpSpPr/>
        <p:nvPr/>
      </p:nvGrpSpPr>
      <p:grpSpPr>
        <a:xfrm xmlns:a="http://schemas.openxmlformats.org/drawingml/2006/main"/>
      </p:grpSpPr>
      <p:sp>
        <p:nvSpPr>
          <p:cNvPr id="7" name="close-eyebrow">
            <a:extLst xmlns:a="http://schemas.openxmlformats.org/drawingml/2006/main">
              <a:ext uri="{FF2B5EF4-FFF2-40B4-BE49-F238E27FC236}">
                <a16:creationId xmlns:a16="http://schemas.microsoft.com/office/drawing/2014/main" id="{F5695835-AB10-41D5-8D00-03D9A0F44EF1}"/>
              </a:ext>
            </a:extLst>
          </p:cNvPr>
          <p:cNvSpPr>
            <a:spLocks xmlns:a="http://schemas.openxmlformats.org/drawingml/2006/main" noGrp="1"/>
          </p:cNvSpPr>
          <p:nvPr/>
        </p:nvSpPr>
        <p:spPr>
          <a:xfrm xmlns:a="http://schemas.openxmlformats.org/drawingml/2006/main">
            <a:off x="609600" y="5905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650" b="1" spc="2">
                <a:solidFill>
                  <a:srgbClr val="D98B65"/>
                </a:solidFill>
                <a:latin typeface="Helvetica Neue"/>
                <a:ea typeface="Helvetica Neue"/>
                <a:cs typeface="Helvetica Neue"/>
              </a:defRPr>
            </a:pPr>
            <a:r>
              <a:rPr sz="1650" b="1" spc="2">
                <a:solidFill>
                  <a:srgbClr val="D98B65"/>
                </a:solidFill>
                <a:latin typeface="Helvetica Neue"/>
                <a:ea typeface="Helvetica Neue"/>
                <a:cs typeface="Helvetica Neue"/>
              </a:rPr>
              <a:t>TRACKFLOW</a:t>
            </a:r>
          </a:p>
        </p:txBody>
      </p:sp>
      <p:sp>
        <p:nvSpPr>
          <p:cNvPr id="2" name="close-title">
            <a:extLst xmlns:a="http://schemas.openxmlformats.org/drawingml/2006/main">
              <a:ext uri="{FF2B5EF4-FFF2-40B4-BE49-F238E27FC236}">
                <a16:creationId xmlns:a16="http://schemas.microsoft.com/office/drawing/2014/main" id="{F2068901-F6AA-4FDC-BF01-1858B9FC5F9F}"/>
              </a:ext>
            </a:extLst>
          </p:cNvPr>
          <p:cNvSpPr>
            <a:spLocks xmlns:a="http://schemas.openxmlformats.org/drawingml/2006/main" noGrp="1"/>
          </p:cNvSpPr>
          <p:nvPr/>
        </p:nvSpPr>
        <p:spPr>
          <a:xfrm xmlns:a="http://schemas.openxmlformats.org/drawingml/2006/main">
            <a:off x="609600" y="1828800"/>
            <a:ext cx="10287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5400" b="1">
                <a:solidFill>
                  <a:srgbClr val="FFFFFF"/>
                </a:solidFill>
                <a:latin typeface="Helvetica Neue"/>
                <a:ea typeface="Helvetica Neue"/>
                <a:cs typeface="Helvetica Neue"/>
              </a:defRPr>
            </a:pPr>
            <a:r>
              <a:rPr sz="5400" b="1">
                <a:solidFill>
                  <a:srgbClr val="FFFFFF"/>
                </a:solidFill>
                <a:latin typeface="Helvetica Neue"/>
                <a:ea typeface="Helvetica Neue"/>
                <a:cs typeface="Helvetica Neue"/>
              </a:rPr>
              <a:t>Built for real operations.</a:t>
            </a:r>
          </a:p>
        </p:txBody>
      </p:sp>
      <p:sp>
        <p:nvSpPr>
          <p:cNvPr id="3" name="close-subtitle">
            <a:extLst xmlns:a="http://schemas.openxmlformats.org/drawingml/2006/main">
              <a:ext uri="{FF2B5EF4-FFF2-40B4-BE49-F238E27FC236}">
                <a16:creationId xmlns:a16="http://schemas.microsoft.com/office/drawing/2014/main" id="{20875E6F-F669-4AA5-A9FD-A2FC040BE17B}"/>
              </a:ext>
            </a:extLst>
          </p:cNvPr>
          <p:cNvSpPr>
            <a:spLocks xmlns:a="http://schemas.openxmlformats.org/drawingml/2006/main" noGrp="1"/>
          </p:cNvSpPr>
          <p:nvPr/>
        </p:nvSpPr>
        <p:spPr>
          <a:xfrm xmlns:a="http://schemas.openxmlformats.org/drawingml/2006/main">
            <a:off x="609600" y="2933700"/>
            <a:ext cx="8763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4050">
                <a:solidFill>
                  <a:srgbClr val="6DCBF4"/>
                </a:solidFill>
                <a:latin typeface="Helvetica Neue"/>
                <a:ea typeface="Helvetica Neue"/>
                <a:cs typeface="Helvetica Neue"/>
              </a:defRPr>
            </a:pPr>
            <a:r>
              <a:rPr sz="4050">
                <a:solidFill>
                  <a:srgbClr val="6DCBF4"/>
                </a:solidFill>
                <a:latin typeface="Helvetica Neue"/>
                <a:ea typeface="Helvetica Neue"/>
                <a:cs typeface="Helvetica Neue"/>
              </a:rPr>
              <a:t>Engineered for safe AI.</a:t>
            </a:r>
          </a:p>
        </p:txBody>
      </p:sp>
      <p:sp>
        <p:nvSpPr>
          <p:cNvPr id="4" name="rule-64-478">
            <a:extLst xmlns:a="http://schemas.openxmlformats.org/drawingml/2006/main">
              <a:ext uri="{FF2B5EF4-FFF2-40B4-BE49-F238E27FC236}">
                <a16:creationId xmlns:a16="http://schemas.microsoft.com/office/drawing/2014/main" id="{E99E7DC1-B3E8-4D20-9FE7-C5048704BF3B}"/>
              </a:ext>
            </a:extLst>
          </p:cNvPr>
          <p:cNvSpPr>
            <a:spLocks xmlns:a="http://schemas.openxmlformats.org/drawingml/2006/main" noGrp="1"/>
          </p:cNvSpPr>
          <p:nvPr/>
        </p:nvSpPr>
        <p:spPr>
          <a:xfrm xmlns:a="http://schemas.openxmlformats.org/drawingml/2006/main">
            <a:off x="609600" y="4552950"/>
            <a:ext cx="10668000" cy="19050"/>
          </a:xfrm>
          <a:prstGeom xmlns:a="http://schemas.openxmlformats.org/drawingml/2006/main" prst="rect">
            <a:avLst/>
          </a:prstGeom>
          <a:solidFill xmlns:a="http://schemas.openxmlformats.org/drawingml/2006/main">
            <a:srgbClr val="334155"/>
          </a:solidFill>
          <a:ln xmlns:a="http://schemas.openxmlformats.org/drawingml/2006/main" w="0">
            <a:noFill/>
            <a:prstDash val="solid"/>
          </a:ln>
        </p:spPr>
      </p:sp>
      <p:sp>
        <p:nvSpPr>
          <p:cNvPr id="5" name="close-proof">
            <a:extLst xmlns:a="http://schemas.openxmlformats.org/drawingml/2006/main">
              <a:ext uri="{FF2B5EF4-FFF2-40B4-BE49-F238E27FC236}">
                <a16:creationId xmlns:a16="http://schemas.microsoft.com/office/drawing/2014/main" id="{48D7A571-1AB4-4FA1-BDD5-04EC4039C42C}"/>
              </a:ext>
            </a:extLst>
          </p:cNvPr>
          <p:cNvSpPr>
            <a:spLocks xmlns:a="http://schemas.openxmlformats.org/drawingml/2006/main" noGrp="1"/>
          </p:cNvSpPr>
          <p:nvPr/>
        </p:nvSpPr>
        <p:spPr>
          <a:xfrm xmlns:a="http://schemas.openxmlformats.org/drawingml/2006/main">
            <a:off x="609600" y="4914900"/>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100">
                <a:solidFill>
                  <a:srgbClr val="FFFFFF"/>
                </a:solidFill>
                <a:latin typeface="Helvetica Neue"/>
                <a:ea typeface="Helvetica Neue"/>
                <a:cs typeface="Helvetica Neue"/>
              </a:defRPr>
            </a:pPr>
            <a:r>
              <a:rPr sz="2100">
                <a:solidFill>
                  <a:srgbClr val="FFFFFF"/>
                </a:solidFill>
                <a:latin typeface="Helvetica Neue"/>
                <a:ea typeface="Helvetica Neue"/>
                <a:cs typeface="Helvetica Neue"/>
              </a:rPr>
              <a:t>Operational  ·  Grounded  ·  Observable</a:t>
            </a:r>
          </a:p>
        </p:txBody>
      </p:sp>
      <p:sp>
        <p:nvSpPr>
          <p:cNvPr id="6" name="close-name">
            <a:extLst xmlns:a="http://schemas.openxmlformats.org/drawingml/2006/main">
              <a:ext uri="{FF2B5EF4-FFF2-40B4-BE49-F238E27FC236}">
                <a16:creationId xmlns:a16="http://schemas.microsoft.com/office/drawing/2014/main" id="{98C7F112-BB22-4753-96A6-267D430457F4}"/>
              </a:ext>
            </a:extLst>
          </p:cNvPr>
          <p:cNvSpPr>
            <a:spLocks xmlns:a="http://schemas.openxmlformats.org/drawingml/2006/main" noGrp="1"/>
          </p:cNvSpPr>
          <p:nvPr/>
        </p:nvSpPr>
        <p:spPr>
          <a:xfrm xmlns:a="http://schemas.openxmlformats.org/drawingml/2006/main">
            <a:off x="609600" y="598170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a:solidFill>
                  <a:srgbClr val="CBD5E1"/>
                </a:solidFill>
                <a:latin typeface="Helvetica Neue"/>
                <a:ea typeface="Helvetica Neue"/>
                <a:cs typeface="Helvetica Neue"/>
              </a:defRPr>
            </a:pPr>
            <a:r>
              <a:rPr sz="1500">
                <a:solidFill>
                  <a:srgbClr val="CBD5E1"/>
                </a:solidFill>
                <a:latin typeface="Helvetica Neue"/>
                <a:ea typeface="Helvetica Neue"/>
                <a:cs typeface="Helvetica Neue"/>
              </a:rPr>
              <a:t>Cory McDaniel</a:t>
            </a:r>
          </a:p>
        </p:txBody>
      </p:sp>
    </p:spTree>
    <p:extLst>
      <p:ext uri="{BB962C8B-B14F-4D97-AF65-F5344CB8AC3E}">
        <p14:creationId xmlns:p14="http://schemas.microsoft.com/office/powerpoint/2010/main" val="14608465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2026-08-21T21:43:50.6580000Z</dcterms:created>
  <dcterms:modified xsi:type="dcterms:W3CDTF">2026-08-21T21:43:50.6580000Z</dcterms:modified>
</coreProperties>
</file>